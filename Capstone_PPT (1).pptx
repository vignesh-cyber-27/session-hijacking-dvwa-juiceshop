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notesMasterIdLst>
    <p:notesMasterId r:id="rId9"/>
  </p:notesMasterIdLst>
  <p:sldIdLst>
    <p:sldId id="256" r:id="rId3"/>
    <p:sldId id="714" r:id="rId4"/>
    <p:sldId id="674" r:id="rId5"/>
    <p:sldId id="715" r:id="rId6"/>
    <p:sldId id="717" r:id="rId7"/>
    <p:sldId id="718" r:id="rId8"/>
    <p:sldId id="720" r:id="rId10"/>
    <p:sldId id="721" r:id="rId11"/>
    <p:sldId id="722" r:id="rId12"/>
    <p:sldId id="723" r:id="rId13"/>
    <p:sldId id="724" r:id="rId14"/>
    <p:sldId id="725" r:id="rId15"/>
    <p:sldId id="727" r:id="rId16"/>
    <p:sldId id="713" r:id="rId17"/>
    <p:sldId id="676" r:id="rId18"/>
    <p:sldId id="728" r:id="rId19"/>
    <p:sldId id="729" r:id="rId20"/>
    <p:sldId id="730" r:id="rId21"/>
    <p:sldId id="731" r:id="rId22"/>
    <p:sldId id="732" r:id="rId23"/>
    <p:sldId id="733" r:id="rId24"/>
    <p:sldId id="734" r:id="rId25"/>
    <p:sldId id="735" r:id="rId26"/>
    <p:sldId id="736" r:id="rId27"/>
    <p:sldId id="737" r:id="rId28"/>
    <p:sldId id="738" r:id="rId29"/>
    <p:sldId id="739" r:id="rId30"/>
    <p:sldId id="740" r:id="rId31"/>
    <p:sldId id="741" r:id="rId32"/>
    <p:sldId id="742" r:id="rId33"/>
    <p:sldId id="743" r:id="rId34"/>
    <p:sldId id="744" r:id="rId35"/>
    <p:sldId id="746" r:id="rId36"/>
    <p:sldId id="747" r:id="rId37"/>
    <p:sldId id="748" r:id="rId38"/>
    <p:sldId id="749" r:id="rId39"/>
    <p:sldId id="750" r:id="rId40"/>
    <p:sldId id="751" r:id="rId41"/>
    <p:sldId id="752" r:id="rId42"/>
    <p:sldId id="753" r:id="rId43"/>
    <p:sldId id="754" r:id="rId44"/>
    <p:sldId id="755" r:id="rId45"/>
    <p:sldId id="756" r:id="rId46"/>
    <p:sldId id="758" r:id="rId47"/>
    <p:sldId id="759" r:id="rId48"/>
    <p:sldId id="760" r:id="rId49"/>
    <p:sldId id="761" r:id="rId50"/>
    <p:sldId id="762" r:id="rId51"/>
    <p:sldId id="763" r:id="rId52"/>
    <p:sldId id="764" r:id="rId53"/>
    <p:sldId id="765" r:id="rId54"/>
    <p:sldId id="766" r:id="rId55"/>
    <p:sldId id="712" r:id="rId56"/>
    <p:sldId id="767" r:id="rId57"/>
    <p:sldId id="711" r:id="rId58"/>
    <p:sldId id="303"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333F50"/>
    <a:srgbClr val="8497B0"/>
    <a:srgbClr val="8FAADC"/>
    <a:srgbClr val="2F5597"/>
    <a:srgbClr val="626CC7"/>
    <a:srgbClr val="323B8D"/>
    <a:srgbClr val="21275D"/>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Rectangle 5"/>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6" name="Arrow: Pentagon 5"/>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p:cNvSpPr txBox="1"/>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endParaRPr lang="en-US" sz="3400" dirty="0">
              <a:solidFill>
                <a:schemeClr val="bg1"/>
              </a:solidFill>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p:cNvSpPr txBox="1"/>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endParaRPr lang="en-US" sz="3400" dirty="0">
              <a:solidFill>
                <a:srgbClr val="1D1B58"/>
              </a:solidFill>
              <a:latin typeface="Calibri" panose="020F0502020204030204" pitchFamily="34" charset="0"/>
            </a:endParaRPr>
          </a:p>
        </p:txBody>
      </p:sp>
      <p:sp>
        <p:nvSpPr>
          <p:cNvPr id="13" name="Freeform: Shape 12"/>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endParaRPr lang="en-US" dirty="0"/>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endParaRPr lang="en-US" dirty="0"/>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Title 1"/>
          <p:cNvSpPr txBox="1"/>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endParaRPr lang="en-US" sz="3400" dirty="0">
              <a:solidFill>
                <a:schemeClr val="bg1"/>
              </a:solidFill>
              <a:latin typeface="Calibri" panose="020F0502020204030204" pitchFamily="34" charset="0"/>
            </a:endParaRPr>
          </a:p>
        </p:txBody>
      </p:sp>
      <p:sp>
        <p:nvSpPr>
          <p:cNvPr id="13" name="Freeform: Shape 12"/>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endParaRPr lang="en-US" dirty="0"/>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4.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2052" name="Picture 4" descr="Top Ranked Data Science Institute, Classroom Plus Online Training | Boston  Institute of Analytics"/>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a:fillRect/>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endParaRPr lang="en-US" sz="1100" dirty="0">
              <a:solidFill>
                <a:schemeClr val="bg2">
                  <a:lumMod val="75000"/>
                </a:scheme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035" y="3268345"/>
            <a:ext cx="11873865" cy="81153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400" b="1" dirty="0">
                <a:latin typeface="Calibri" panose="020F0502020204030204" pitchFamily="34" charset="0"/>
              </a:rPr>
              <a:t>Session ID &amp; Cookie Security </a:t>
            </a:r>
            <a:endParaRPr lang="en-US" altLang="en-US" sz="4400" b="1" dirty="0">
              <a:latin typeface="Calibri" panose="020F0502020204030204" pitchFamily="34" charset="0"/>
            </a:endParaRPr>
          </a:p>
          <a:p>
            <a:pPr algn="ctr"/>
            <a:r>
              <a:rPr lang="en-US" altLang="en-US" sz="4400" b="1" dirty="0">
                <a:latin typeface="Calibri" panose="020F0502020204030204" pitchFamily="34" charset="0"/>
              </a:rPr>
              <a:t>of Web Applications</a:t>
            </a:r>
            <a:endParaRPr lang="en-US" sz="4400" b="1" dirty="0">
              <a:latin typeface="Calibri" panose="020F0502020204030204" pitchFamily="34" charset="0"/>
            </a:endParaRPr>
          </a:p>
        </p:txBody>
      </p:sp>
      <p:sp>
        <p:nvSpPr>
          <p:cNvPr id="4" name="Text Box 3"/>
          <p:cNvSpPr txBox="1"/>
          <p:nvPr/>
        </p:nvSpPr>
        <p:spPr>
          <a:xfrm>
            <a:off x="594360" y="5450840"/>
            <a:ext cx="4064000" cy="829945"/>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p>
            <a:r>
              <a:rPr lang="en-IN" altLang="en-US" sz="2400" b="1">
                <a:solidFill>
                  <a:schemeClr val="bg1"/>
                </a:solidFill>
              </a:rPr>
              <a:t>BY:</a:t>
            </a:r>
            <a:endParaRPr lang="en-IN" altLang="en-US" sz="2400" b="1">
              <a:solidFill>
                <a:schemeClr val="bg1"/>
              </a:solidFill>
            </a:endParaRPr>
          </a:p>
          <a:p>
            <a:r>
              <a:rPr lang="en-IN" altLang="en-US" sz="2400" b="1">
                <a:solidFill>
                  <a:schemeClr val="bg1"/>
                </a:solidFill>
              </a:rPr>
              <a:t>VIGNESH S</a:t>
            </a:r>
            <a:endParaRPr lang="en-IN" altLang="en-US" sz="2400" b="1">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a:solidFill>
                  <a:srgbClr val="C00000"/>
                </a:solidFill>
              </a:rPr>
              <a:t>Agenda</a:t>
            </a:r>
            <a:endParaRPr lang="en-US" sz="4400" dirty="0">
              <a:solidFill>
                <a:srgbClr val="C00000"/>
              </a:solidFill>
            </a:endParaRPr>
          </a:p>
        </p:txBody>
      </p:sp>
      <p:sp>
        <p:nvSpPr>
          <p:cNvPr id="5" name="Content Placeholder 4"/>
          <p:cNvSpPr/>
          <p:nvPr>
            <p:ph idx="1"/>
          </p:nvPr>
        </p:nvSpPr>
        <p:spPr>
          <a:xfrm>
            <a:off x="371544" y="1687140"/>
            <a:ext cx="10834234" cy="4284000"/>
          </a:xfrm>
        </p:spPr>
        <p:txBody>
          <a:bodyPr/>
          <a:p>
            <a:pPr algn="just"/>
            <a:r>
              <a:rPr>
                <a:sym typeface="+mn-ea"/>
              </a:rPr>
              <a:t>What are Sessions &amp; Cookies?</a:t>
            </a:r>
            <a:endParaRPr>
              <a:sym typeface="+mn-ea"/>
            </a:endParaRPr>
          </a:p>
          <a:p>
            <a:pPr algn="just"/>
            <a:r>
              <a:rPr>
                <a:sym typeface="+mn-ea"/>
              </a:rPr>
              <a:t>Session IDs &amp; Their Role</a:t>
            </a:r>
            <a:endParaRPr>
              <a:sym typeface="+mn-ea"/>
            </a:endParaRPr>
          </a:p>
          <a:p>
            <a:pPr algn="just"/>
            <a:r>
              <a:rPr>
                <a:sym typeface="+mn-ea"/>
              </a:rPr>
              <a:t>Cookie Security Attributes</a:t>
            </a:r>
            <a:endParaRPr>
              <a:sym typeface="+mn-ea"/>
            </a:endParaRPr>
          </a:p>
          <a:p>
            <a:pPr algn="just"/>
            <a:r>
              <a:rPr>
                <a:sym typeface="+mn-ea"/>
              </a:rPr>
              <a:t>Common Attacks</a:t>
            </a:r>
            <a:endParaRPr>
              <a:sym typeface="+mn-ea"/>
            </a:endParaRPr>
          </a:p>
          <a:p>
            <a:pPr algn="just"/>
            <a:r>
              <a:rPr>
                <a:sym typeface="+mn-ea"/>
              </a:rPr>
              <a:t>Best Practices</a:t>
            </a:r>
            <a:endParaRPr>
              <a:sym typeface="+mn-ea"/>
            </a:endParaRPr>
          </a:p>
          <a:p>
            <a:pPr algn="just"/>
            <a:r>
              <a:rPr lang="en-IN" altLang="en-US"/>
              <a:t>POC of session hijacking</a:t>
            </a:r>
            <a:endParaRPr lang="en-IN" altLang="en-US"/>
          </a:p>
          <a:p>
            <a:pPr algn="just"/>
            <a:r>
              <a:rPr lang="en-IN" altLang="en-US"/>
              <a:t>DVWA</a:t>
            </a:r>
            <a:endParaRPr lang="en-IN" altLang="en-US"/>
          </a:p>
          <a:p>
            <a:pPr algn="just"/>
            <a:r>
              <a:rPr lang="en-IN" altLang="en-US"/>
              <a:t>Owasp juice shop</a:t>
            </a:r>
            <a:endParaRPr lang="en-I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p>
            <a:r>
              <a:rPr lang="en-IN" altLang="en-US">
                <a:solidFill>
                  <a:srgbClr val="C00000"/>
                </a:solidFill>
                <a:sym typeface="+mn-ea"/>
              </a:rPr>
              <a:t>What is session and cookies?</a:t>
            </a:r>
            <a:endParaRPr lang="en-US"/>
          </a:p>
        </p:txBody>
      </p:sp>
      <p:sp>
        <p:nvSpPr>
          <p:cNvPr id="12" name="Content Placeholder 2"/>
          <p:cNvSpPr>
            <a:spLocks noGrp="1"/>
          </p:cNvSpPr>
          <p:nvPr/>
        </p:nvSpPr>
        <p:spPr>
          <a:xfrm>
            <a:off x="678815" y="1560830"/>
            <a:ext cx="10834370" cy="4194810"/>
          </a:xfrm>
          <a:prstGeom prst="rect">
            <a:avLst/>
          </a:prstGeom>
        </p:spPr>
        <p:txBody>
          <a:bodyPr vert="horz" lIns="91440" tIns="45720" rIns="91440" bIns="45720" rtlCol="0">
            <a:normAutofit lnSpcReduction="1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indent="0" algn="l">
              <a:lnSpc>
                <a:spcPct val="90000"/>
              </a:lnSpc>
              <a:buFont typeface="Wingdings" panose="05000000000000000000" charset="0"/>
              <a:buNone/>
            </a:pPr>
            <a:r>
              <a:rPr lang="en-IN" altLang="en-US" sz="2800" b="1" u="sng" dirty="0">
                <a:solidFill>
                  <a:schemeClr val="tx1"/>
                </a:solidFill>
              </a:rPr>
              <a:t>SESSION</a:t>
            </a:r>
            <a:endParaRPr lang="en-IN" altLang="en-US" sz="2800" b="1" u="sng" dirty="0">
              <a:solidFill>
                <a:schemeClr val="tx1"/>
              </a:solidFill>
            </a:endParaRPr>
          </a:p>
          <a:p>
            <a:pPr lvl="0" indent="0" algn="l">
              <a:lnSpc>
                <a:spcPct val="90000"/>
              </a:lnSpc>
              <a:buFont typeface="Wingdings" panose="05000000000000000000" charset="0"/>
              <a:buNone/>
            </a:pPr>
            <a:endParaRPr lang="en-IN" altLang="en-US" sz="2400" dirty="0"/>
          </a:p>
          <a:p>
            <a:pPr marL="342900" lvl="0" indent="-342900" algn="l">
              <a:lnSpc>
                <a:spcPct val="90000"/>
              </a:lnSpc>
              <a:buFont typeface="Arial" panose="020B0604020202020204" pitchFamily="34" charset="0"/>
              <a:buChar char="•"/>
            </a:pPr>
            <a:r>
              <a:rPr lang="en-US" altLang="en-US" sz="2400" dirty="0"/>
              <a:t>A session is information stored on the server to keep track of the user while they browse.</a:t>
            </a:r>
            <a:endParaRPr lang="en-US" altLang="en-US" sz="2400" dirty="0"/>
          </a:p>
          <a:p>
            <a:pPr marL="342900" lvl="0" indent="-342900" algn="l">
              <a:lnSpc>
                <a:spcPct val="90000"/>
              </a:lnSpc>
              <a:buFont typeface="Arial" panose="020B0604020202020204" pitchFamily="34" charset="0"/>
              <a:buChar char="•"/>
            </a:pPr>
            <a:r>
              <a:rPr lang="en-US" altLang="en-US" sz="2400" dirty="0"/>
              <a:t>Since HTTP is stateless, the server does not remember users between page loads, so a session is used to identify and track the logged-in user.</a:t>
            </a:r>
            <a:endParaRPr lang="en-US" altLang="en-US" sz="2400" dirty="0"/>
          </a:p>
          <a:p>
            <a:pPr lvl="0" algn="l">
              <a:lnSpc>
                <a:spcPct val="90000"/>
              </a:lnSpc>
            </a:pPr>
            <a:endParaRPr lang="en-US" altLang="en-US" dirty="0"/>
          </a:p>
          <a:p>
            <a:pPr lvl="0" algn="l">
              <a:lnSpc>
                <a:spcPct val="90000"/>
              </a:lnSpc>
              <a:buFont typeface="Wingdings" panose="05000000000000000000" charset="0"/>
              <a:buChar char="Ø"/>
            </a:pPr>
            <a:r>
              <a:rPr lang="en-US" altLang="en-US" sz="2800" u="sng" dirty="0"/>
              <a:t>How It Work</a:t>
            </a:r>
            <a:endParaRPr lang="en-US" altLang="en-US" sz="2800" u="sng" dirty="0"/>
          </a:p>
          <a:p>
            <a:pPr lvl="0" indent="0" algn="l">
              <a:lnSpc>
                <a:spcPct val="90000"/>
              </a:lnSpc>
              <a:buFont typeface="Wingdings" panose="05000000000000000000" charset="0"/>
              <a:buNone/>
            </a:pPr>
            <a:endParaRPr lang="en-US" altLang="en-US" sz="2400" u="sng" dirty="0"/>
          </a:p>
          <a:p>
            <a:pPr marL="342900" lvl="0" indent="-342900" algn="l">
              <a:lnSpc>
                <a:spcPct val="90000"/>
              </a:lnSpc>
              <a:buFont typeface="Arial" panose="020B0604020202020204" pitchFamily="34" charset="0"/>
              <a:buChar char="•"/>
            </a:pPr>
            <a:r>
              <a:rPr lang="en-US" altLang="en-US" sz="2400" dirty="0"/>
              <a:t>When a user logs in, the server creates a Session ID</a:t>
            </a:r>
            <a:endParaRPr lang="en-US" altLang="en-US" sz="2400" dirty="0"/>
          </a:p>
          <a:p>
            <a:pPr marL="342900" lvl="0" indent="-342900" algn="l">
              <a:lnSpc>
                <a:spcPct val="90000"/>
              </a:lnSpc>
              <a:buFont typeface="Arial" panose="020B0604020202020204" pitchFamily="34" charset="0"/>
              <a:buChar char="•"/>
            </a:pPr>
            <a:r>
              <a:rPr lang="en-US" altLang="en-US" sz="2400" dirty="0"/>
              <a:t>The Session ID is stored on the user's browser (usually in a cookie)</a:t>
            </a:r>
            <a:endParaRPr lang="en-US" altLang="en-US" sz="2400" dirty="0"/>
          </a:p>
          <a:p>
            <a:pPr marL="342900" lvl="0" indent="-342900" algn="l">
              <a:lnSpc>
                <a:spcPct val="90000"/>
              </a:lnSpc>
              <a:buFont typeface="Arial" panose="020B0604020202020204" pitchFamily="34" charset="0"/>
              <a:buChar char="•"/>
            </a:pPr>
            <a:r>
              <a:rPr lang="en-US" altLang="en-US" sz="2400">
                <a:sym typeface="+mn-ea"/>
              </a:rPr>
              <a:t>Every time a new request is made, the Session ID tells the server which user is active</a:t>
            </a:r>
            <a:endParaRPr lang="en-US" altLang="en-US" sz="2400"/>
          </a:p>
          <a:p>
            <a:pPr marL="342900" lvl="0" indent="-342900" algn="l">
              <a:lnSpc>
                <a:spcPct val="90000"/>
              </a:lnSpc>
              <a:buFont typeface="Arial" panose="020B0604020202020204" pitchFamily="34" charset="0"/>
              <a:buChar char="•"/>
            </a:pPr>
            <a:endParaRPr lang="en-US" altLang="en-US" sz="2400" dirty="0"/>
          </a:p>
          <a:p>
            <a:pPr lvl="0" algn="l">
              <a:lnSpc>
                <a:spcPct val="90000"/>
              </a:lnSpc>
            </a:pPr>
            <a:endParaRPr lang="en-US" altLang="en-US" sz="2400" dirty="0"/>
          </a:p>
          <a:p>
            <a:pPr lvl="0" algn="l">
              <a:lnSpc>
                <a:spcPct val="90000"/>
              </a:lnSpc>
            </a:pPr>
            <a:endParaRPr lang="en-US" altLang="en-US" sz="2400" dirty="0"/>
          </a:p>
        </p:txBody>
      </p:sp>
      <p:sp>
        <p:nvSpPr>
          <p:cNvPr id="13" name="Title 3"/>
          <p:cNvSpPr/>
          <p:nvPr/>
        </p:nvSpPr>
        <p:spPr>
          <a:xfrm>
            <a:off x="678884" y="1343441"/>
            <a:ext cx="10834234"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endParaRPr lang="en-IN" altLang="en-US" u="sng">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 name="Content Placeholder 2"/>
          <p:cNvSpPr>
            <a:spLocks noGrp="1"/>
          </p:cNvSpPr>
          <p:nvPr>
            <p:ph sz="half" idx="1"/>
          </p:nvPr>
        </p:nvSpPr>
        <p:spPr>
          <a:xfrm>
            <a:off x="678815" y="580390"/>
            <a:ext cx="10814685" cy="5364480"/>
          </a:xfrm>
        </p:spPr>
        <p:txBody>
          <a:bodyPr>
            <a:normAutofit lnSpcReduction="20000"/>
          </a:bodyPr>
          <a:p>
            <a:r>
              <a:rPr lang="en-US" altLang="en-US" sz="2400"/>
              <a:t>The session ends when:</a:t>
            </a:r>
            <a:endParaRPr lang="en-US" altLang="en-US" sz="2400"/>
          </a:p>
          <a:p>
            <a:pPr marL="514350" indent="-514350">
              <a:buFont typeface="+mj-lt"/>
              <a:buAutoNum type="romanLcPeriod"/>
            </a:pPr>
            <a:r>
              <a:rPr lang="en-US" altLang="en-US" sz="2400"/>
              <a:t>User logs out</a:t>
            </a:r>
            <a:endParaRPr lang="en-US" altLang="en-US" sz="2400"/>
          </a:p>
          <a:p>
            <a:pPr marL="514350" indent="-514350">
              <a:buFont typeface="+mj-lt"/>
              <a:buAutoNum type="romanLcPeriod"/>
            </a:pPr>
            <a:r>
              <a:rPr lang="en-US" altLang="en-US" sz="2400"/>
              <a:t>Browser closes (in most cases)</a:t>
            </a:r>
            <a:endParaRPr lang="en-US" altLang="en-US" sz="2400"/>
          </a:p>
          <a:p>
            <a:pPr marL="514350" indent="-514350">
              <a:buFont typeface="+mj-lt"/>
              <a:buAutoNum type="romanLcPeriod"/>
            </a:pPr>
            <a:r>
              <a:rPr lang="en-US" altLang="en-US" sz="2400"/>
              <a:t>Session times out</a:t>
            </a:r>
            <a:endParaRPr lang="en-US" altLang="en-US" sz="2400"/>
          </a:p>
          <a:p>
            <a:pPr marL="0" indent="0">
              <a:buFont typeface="+mj-lt"/>
              <a:buNone/>
            </a:pPr>
            <a:endParaRPr lang="en-US" altLang="en-US"/>
          </a:p>
          <a:p>
            <a:pPr>
              <a:lnSpc>
                <a:spcPct val="20000"/>
              </a:lnSpc>
              <a:spcBef>
                <a:spcPts val="1000"/>
              </a:spcBef>
              <a:spcAft>
                <a:spcPts val="0"/>
              </a:spcAft>
              <a:buFont typeface="Wingdings" panose="05000000000000000000" charset="0"/>
              <a:buChar char="Ø"/>
            </a:pPr>
            <a:r>
              <a:rPr lang="en-IN" altLang="en-US" u="sng"/>
              <a:t> </a:t>
            </a:r>
            <a:r>
              <a:rPr lang="en-US" altLang="en-US" u="sng"/>
              <a:t>What is stored in Session?</a:t>
            </a:r>
            <a:endParaRPr lang="en-US" altLang="en-US" u="sng"/>
          </a:p>
          <a:p>
            <a:pPr>
              <a:lnSpc>
                <a:spcPct val="20000"/>
              </a:lnSpc>
              <a:spcBef>
                <a:spcPts val="1000"/>
              </a:spcBef>
              <a:spcAft>
                <a:spcPts val="0"/>
              </a:spcAft>
              <a:buFont typeface="Wingdings" panose="05000000000000000000" charset="0"/>
              <a:buChar char="Ø"/>
            </a:pPr>
            <a:endParaRPr lang="en-US" altLang="en-US" u="sng"/>
          </a:p>
          <a:p>
            <a:pPr marL="514350" indent="-514350">
              <a:lnSpc>
                <a:spcPct val="100000"/>
              </a:lnSpc>
              <a:spcBef>
                <a:spcPts val="1000"/>
              </a:spcBef>
              <a:spcAft>
                <a:spcPts val="0"/>
              </a:spcAft>
              <a:buFont typeface="+mj-lt"/>
              <a:buAutoNum type="romanLcPeriod"/>
            </a:pPr>
            <a:r>
              <a:rPr lang="en-US" altLang="en-US" sz="2400"/>
              <a:t>User authentication state</a:t>
            </a:r>
            <a:endParaRPr lang="en-US" altLang="en-US" sz="2400"/>
          </a:p>
          <a:p>
            <a:pPr marL="514350" indent="-514350">
              <a:lnSpc>
                <a:spcPct val="100000"/>
              </a:lnSpc>
              <a:spcBef>
                <a:spcPts val="1000"/>
              </a:spcBef>
              <a:spcAft>
                <a:spcPts val="0"/>
              </a:spcAft>
              <a:buFont typeface="+mj-lt"/>
              <a:buAutoNum type="romanLcPeriod"/>
            </a:pPr>
            <a:r>
              <a:rPr lang="en-US" altLang="en-US" sz="2400"/>
              <a:t>User profile or preferences</a:t>
            </a:r>
            <a:endParaRPr lang="en-US" altLang="en-US" sz="2400"/>
          </a:p>
          <a:p>
            <a:pPr marL="514350" indent="-514350">
              <a:lnSpc>
                <a:spcPct val="100000"/>
              </a:lnSpc>
              <a:spcBef>
                <a:spcPts val="1000"/>
              </a:spcBef>
              <a:spcAft>
                <a:spcPts val="0"/>
              </a:spcAft>
              <a:buFont typeface="+mj-lt"/>
              <a:buAutoNum type="romanLcPeriod"/>
            </a:pPr>
            <a:r>
              <a:rPr lang="en-US" altLang="en-US" sz="2400"/>
              <a:t>Temporary activity data</a:t>
            </a:r>
            <a:endParaRPr lang="en-US" altLang="en-US" sz="2400"/>
          </a:p>
          <a:p>
            <a:pPr marL="514350" indent="-514350">
              <a:lnSpc>
                <a:spcPct val="100000"/>
              </a:lnSpc>
              <a:spcBef>
                <a:spcPts val="1000"/>
              </a:spcBef>
              <a:spcAft>
                <a:spcPts val="0"/>
              </a:spcAft>
              <a:buFont typeface="+mj-lt"/>
              <a:buAutoNum type="romanLcPeriod"/>
            </a:pPr>
            <a:endParaRPr lang="en-US" altLang="en-US" sz="2400"/>
          </a:p>
          <a:p>
            <a:pPr marL="514350" indent="-514350">
              <a:lnSpc>
                <a:spcPct val="20000"/>
              </a:lnSpc>
              <a:spcBef>
                <a:spcPts val="1000"/>
              </a:spcBef>
              <a:spcAft>
                <a:spcPts val="0"/>
              </a:spcAft>
              <a:buFont typeface="+mj-lt"/>
              <a:buAutoNum type="romanLcPeriod"/>
            </a:pPr>
            <a:endParaRPr lang="en-US" altLang="en-US"/>
          </a:p>
          <a:p>
            <a:pPr marL="514350" indent="-514350">
              <a:lnSpc>
                <a:spcPct val="20000"/>
              </a:lnSpc>
              <a:spcBef>
                <a:spcPts val="1000"/>
              </a:spcBef>
              <a:spcAft>
                <a:spcPts val="0"/>
              </a:spcAft>
              <a:buFont typeface="+mj-lt"/>
              <a:buAutoNum type="romanLcPeriod"/>
            </a:pPr>
            <a:endParaRPr lang="en-US" altLang="en-US" u="sng"/>
          </a:p>
          <a:p>
            <a:pPr>
              <a:lnSpc>
                <a:spcPct val="20000"/>
              </a:lnSpc>
              <a:spcBef>
                <a:spcPts val="1000"/>
              </a:spcBef>
              <a:spcAft>
                <a:spcPts val="0"/>
              </a:spcAft>
              <a:buFont typeface="Wingdings" panose="05000000000000000000" charset="0"/>
              <a:buChar char="Ø"/>
            </a:pPr>
            <a:r>
              <a:rPr lang="en-IN" altLang="en-US" u="sng">
                <a:sym typeface="+mn-ea"/>
              </a:rPr>
              <a:t> </a:t>
            </a:r>
            <a:r>
              <a:rPr lang="en-US" altLang="en-US" u="sng">
                <a:sym typeface="+mn-ea"/>
              </a:rPr>
              <a:t>Where is it stored?</a:t>
            </a:r>
            <a:endParaRPr lang="en-US" altLang="en-US" u="sng"/>
          </a:p>
          <a:p>
            <a:pPr marL="0" indent="0">
              <a:lnSpc>
                <a:spcPct val="20000"/>
              </a:lnSpc>
              <a:spcBef>
                <a:spcPts val="1000"/>
              </a:spcBef>
              <a:spcAft>
                <a:spcPts val="0"/>
              </a:spcAft>
              <a:buFont typeface="+mj-lt"/>
              <a:buNone/>
            </a:pPr>
            <a:endParaRPr lang="en-US" altLang="en-US"/>
          </a:p>
          <a:p>
            <a:pPr marL="0" indent="0">
              <a:lnSpc>
                <a:spcPct val="20000"/>
              </a:lnSpc>
              <a:spcBef>
                <a:spcPts val="1000"/>
              </a:spcBef>
              <a:spcAft>
                <a:spcPts val="0"/>
              </a:spcAft>
              <a:buFont typeface="+mj-lt"/>
              <a:buNone/>
            </a:pPr>
            <a:endParaRPr lang="en-US" altLang="en-US"/>
          </a:p>
          <a:p>
            <a:pPr marL="0" indent="0">
              <a:lnSpc>
                <a:spcPct val="90000"/>
              </a:lnSpc>
              <a:spcBef>
                <a:spcPts val="1000"/>
              </a:spcBef>
              <a:spcAft>
                <a:spcPts val="0"/>
              </a:spcAft>
              <a:buFont typeface="Wingdings" panose="05000000000000000000" charset="0"/>
              <a:buNone/>
            </a:pPr>
            <a:r>
              <a:rPr lang="en-US" altLang="en-US" sz="2400">
                <a:sym typeface="+mn-ea"/>
              </a:rPr>
              <a:t>On the server </a:t>
            </a:r>
            <a:r>
              <a:rPr lang="en-IN" altLang="en-US" sz="2400">
                <a:sym typeface="+mn-ea"/>
              </a:rPr>
              <a:t>- </a:t>
            </a:r>
            <a:r>
              <a:rPr lang="en-US" altLang="en-US" sz="2400">
                <a:sym typeface="+mn-ea"/>
              </a:rPr>
              <a:t>more secure than storing on browser</a:t>
            </a:r>
            <a:endParaRPr lang="en-US" altLang="en-US" sz="2400"/>
          </a:p>
          <a:p>
            <a:pPr marL="0" indent="0">
              <a:lnSpc>
                <a:spcPct val="90000"/>
              </a:lnSpc>
              <a:spcBef>
                <a:spcPts val="1000"/>
              </a:spcBef>
              <a:spcAft>
                <a:spcPts val="0"/>
              </a:spcAft>
              <a:buFont typeface="+mj-lt"/>
              <a:buNone/>
            </a:pPr>
            <a:r>
              <a:rPr lang="en-US" altLang="en-US" sz="2400">
                <a:sym typeface="+mn-ea"/>
              </a:rPr>
              <a:t>Session </a:t>
            </a:r>
            <a:r>
              <a:rPr lang="en-IN" altLang="en-US" sz="2400">
                <a:sym typeface="+mn-ea"/>
              </a:rPr>
              <a:t>-</a:t>
            </a:r>
            <a:r>
              <a:rPr lang="en-US" altLang="en-US" sz="2400">
                <a:sym typeface="+mn-ea"/>
              </a:rPr>
              <a:t> Secure data stored on the server to identify the user</a:t>
            </a:r>
            <a:endParaRPr lang="en-US" altLang="en-US" sz="2400"/>
          </a:p>
          <a:p>
            <a:pPr marL="0" indent="0">
              <a:lnSpc>
                <a:spcPct val="20000"/>
              </a:lnSpc>
              <a:spcBef>
                <a:spcPts val="1000"/>
              </a:spcBef>
              <a:spcAft>
                <a:spcPts val="0"/>
              </a:spcAft>
              <a:buFont typeface="+mj-lt"/>
              <a:buNone/>
            </a:pP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 name="Content Placeholder 2"/>
          <p:cNvSpPr>
            <a:spLocks noGrp="1"/>
          </p:cNvSpPr>
          <p:nvPr>
            <p:ph sz="half" idx="1"/>
          </p:nvPr>
        </p:nvSpPr>
        <p:spPr>
          <a:xfrm>
            <a:off x="678815" y="580390"/>
            <a:ext cx="10814685" cy="5571490"/>
          </a:xfrm>
        </p:spPr>
        <p:txBody>
          <a:bodyPr>
            <a:noAutofit/>
          </a:bodyPr>
          <a:p>
            <a:pPr marL="0" indent="0">
              <a:lnSpc>
                <a:spcPct val="90000"/>
              </a:lnSpc>
              <a:spcBef>
                <a:spcPts val="1000"/>
              </a:spcBef>
              <a:spcAft>
                <a:spcPts val="0"/>
              </a:spcAft>
              <a:buFont typeface="+mj-lt"/>
              <a:buNone/>
            </a:pPr>
            <a:r>
              <a:rPr lang="en-US" altLang="en-US" b="1" u="sng">
                <a:effectLst/>
              </a:rPr>
              <a:t>C</a:t>
            </a:r>
            <a:r>
              <a:rPr lang="en-IN" altLang="en-US" b="1" u="sng">
                <a:effectLst/>
              </a:rPr>
              <a:t>OOKIES</a:t>
            </a:r>
            <a:endParaRPr lang="en-IN" altLang="en-US" b="1" u="sng">
              <a:effectLst/>
            </a:endParaRPr>
          </a:p>
          <a:p>
            <a:pPr marL="0" indent="0">
              <a:lnSpc>
                <a:spcPct val="90000"/>
              </a:lnSpc>
              <a:spcBef>
                <a:spcPts val="1000"/>
              </a:spcBef>
              <a:spcAft>
                <a:spcPts val="0"/>
              </a:spcAft>
              <a:buFont typeface="+mj-lt"/>
              <a:buNone/>
            </a:pPr>
            <a:r>
              <a:rPr lang="en-US" altLang="en-US" sz="2400"/>
              <a:t>A cookie is a small piece of data that a website stores in your browser to remember you</a:t>
            </a:r>
            <a:r>
              <a:rPr lang="en-IN" altLang="en-US" sz="2400"/>
              <a:t>.</a:t>
            </a:r>
            <a:endParaRPr lang="en-IN" altLang="en-US" sz="2400"/>
          </a:p>
          <a:p>
            <a:pPr>
              <a:lnSpc>
                <a:spcPct val="90000"/>
              </a:lnSpc>
              <a:spcBef>
                <a:spcPts val="1000"/>
              </a:spcBef>
              <a:spcAft>
                <a:spcPts val="0"/>
              </a:spcAft>
              <a:buFont typeface="Wingdings" panose="05000000000000000000" charset="0"/>
              <a:buChar char="Ø"/>
            </a:pPr>
            <a:r>
              <a:rPr lang="en-US" altLang="en-US" u="sng"/>
              <a:t>Why are Cookies used?</a:t>
            </a:r>
            <a:endParaRPr lang="en-US" altLang="en-US" u="sng"/>
          </a:p>
          <a:p>
            <a:pPr>
              <a:lnSpc>
                <a:spcPct val="90000"/>
              </a:lnSpc>
              <a:spcBef>
                <a:spcPts val="1000"/>
              </a:spcBef>
              <a:spcAft>
                <a:spcPts val="0"/>
              </a:spcAft>
              <a:buFont typeface="Arial" panose="020B0604020202020204" pitchFamily="34" charset="0"/>
              <a:buChar char="•"/>
            </a:pPr>
            <a:r>
              <a:rPr lang="en-US" altLang="en-US" sz="2400"/>
              <a:t>To store Session ID</a:t>
            </a:r>
            <a:endParaRPr lang="en-US" altLang="en-US" sz="2400"/>
          </a:p>
          <a:p>
            <a:pPr>
              <a:lnSpc>
                <a:spcPct val="90000"/>
              </a:lnSpc>
              <a:spcBef>
                <a:spcPts val="1000"/>
              </a:spcBef>
              <a:spcAft>
                <a:spcPts val="0"/>
              </a:spcAft>
              <a:buFont typeface="Arial" panose="020B0604020202020204" pitchFamily="34" charset="0"/>
              <a:buChar char="•"/>
            </a:pPr>
            <a:r>
              <a:rPr lang="en-US" altLang="en-US" sz="2400">
                <a:sym typeface="+mn-ea"/>
              </a:rPr>
              <a:t>To remember user preferences (theme, language)</a:t>
            </a:r>
            <a:endParaRPr lang="en-US" altLang="en-US" sz="2400"/>
          </a:p>
          <a:p>
            <a:pPr>
              <a:lnSpc>
                <a:spcPct val="90000"/>
              </a:lnSpc>
              <a:spcBef>
                <a:spcPts val="1000"/>
              </a:spcBef>
              <a:spcAft>
                <a:spcPts val="0"/>
              </a:spcAft>
              <a:buFont typeface="Arial" panose="020B0604020202020204" pitchFamily="34" charset="0"/>
              <a:buChar char="•"/>
            </a:pPr>
            <a:r>
              <a:rPr lang="en-US" altLang="en-US" sz="2400">
                <a:sym typeface="+mn-ea"/>
              </a:rPr>
              <a:t>Keep users logged in (persistent cookies)</a:t>
            </a:r>
            <a:endParaRPr lang="en-US" altLang="en-US" sz="2400"/>
          </a:p>
          <a:p>
            <a:pPr>
              <a:lnSpc>
                <a:spcPct val="90000"/>
              </a:lnSpc>
              <a:spcBef>
                <a:spcPts val="1000"/>
              </a:spcBef>
              <a:spcAft>
                <a:spcPts val="0"/>
              </a:spcAft>
              <a:buFont typeface="Arial" panose="020B0604020202020204" pitchFamily="34" charset="0"/>
              <a:buChar char="•"/>
            </a:pPr>
            <a:r>
              <a:rPr lang="en-US" altLang="en-US" sz="2400">
                <a:sym typeface="+mn-ea"/>
              </a:rPr>
              <a:t>Track user behavior (analytics)</a:t>
            </a:r>
            <a:endParaRPr lang="en-US" altLang="en-US" sz="2400">
              <a:sym typeface="+mn-ea"/>
            </a:endParaRPr>
          </a:p>
          <a:p>
            <a:pPr>
              <a:lnSpc>
                <a:spcPct val="90000"/>
              </a:lnSpc>
              <a:spcBef>
                <a:spcPts val="1000"/>
              </a:spcBef>
              <a:spcAft>
                <a:spcPts val="0"/>
              </a:spcAft>
              <a:buFont typeface="Arial" panose="020B0604020202020204" pitchFamily="34" charset="0"/>
              <a:buChar char="•"/>
            </a:pPr>
            <a:endParaRPr lang="en-US" altLang="en-US" sz="2400"/>
          </a:p>
          <a:p>
            <a:pPr>
              <a:lnSpc>
                <a:spcPct val="90000"/>
              </a:lnSpc>
              <a:spcBef>
                <a:spcPts val="1000"/>
              </a:spcBef>
              <a:spcAft>
                <a:spcPts val="0"/>
              </a:spcAft>
              <a:buFont typeface="Wingdings" panose="05000000000000000000" charset="0"/>
              <a:buChar char="Ø"/>
            </a:pPr>
            <a:r>
              <a:rPr lang="en-US" altLang="en-US" u="sng">
                <a:sym typeface="+mn-ea"/>
              </a:rPr>
              <a:t>Types of Cookies</a:t>
            </a:r>
            <a:endParaRPr lang="en-US" altLang="en-US" u="sng">
              <a:sym typeface="+mn-ea"/>
            </a:endParaRPr>
          </a:p>
          <a:p>
            <a:pPr marL="0" indent="0">
              <a:lnSpc>
                <a:spcPct val="90000"/>
              </a:lnSpc>
              <a:spcBef>
                <a:spcPts val="1000"/>
              </a:spcBef>
              <a:spcAft>
                <a:spcPts val="0"/>
              </a:spcAft>
              <a:buFont typeface="Wingdings" panose="05000000000000000000" charset="0"/>
              <a:buNone/>
            </a:pPr>
            <a:r>
              <a:rPr lang="en-US" altLang="en-US" sz="2400">
                <a:sym typeface="+mn-ea"/>
              </a:rPr>
              <a:t>Session Cookies </a:t>
            </a:r>
            <a:r>
              <a:rPr lang="en-IN" altLang="en-US" sz="2400">
                <a:sym typeface="+mn-ea"/>
              </a:rPr>
              <a:t>-</a:t>
            </a:r>
            <a:r>
              <a:rPr lang="en-US" altLang="en-US" sz="2400">
                <a:sym typeface="+mn-ea"/>
              </a:rPr>
              <a:t> Removed when browser closed</a:t>
            </a:r>
            <a:endParaRPr lang="en-US" altLang="en-US" sz="2400"/>
          </a:p>
          <a:p>
            <a:pPr>
              <a:lnSpc>
                <a:spcPct val="90000"/>
              </a:lnSpc>
              <a:spcBef>
                <a:spcPts val="1000"/>
              </a:spcBef>
              <a:spcAft>
                <a:spcPts val="0"/>
              </a:spcAft>
              <a:buFont typeface="Arial" panose="020B0604020202020204" pitchFamily="34" charset="0"/>
              <a:buChar char="•"/>
            </a:pPr>
            <a:r>
              <a:rPr lang="en-US" altLang="en-US" sz="2400">
                <a:sym typeface="+mn-ea"/>
              </a:rPr>
              <a:t>Persistent Cookies </a:t>
            </a:r>
            <a:r>
              <a:rPr lang="en-IN" altLang="en-US" sz="2400">
                <a:sym typeface="+mn-ea"/>
              </a:rPr>
              <a:t>-</a:t>
            </a:r>
            <a:r>
              <a:rPr lang="en-US" altLang="en-US" sz="2400">
                <a:sym typeface="+mn-ea"/>
              </a:rPr>
              <a:t> Stay until expired</a:t>
            </a:r>
            <a:endParaRPr lang="en-US" altLang="en-US" sz="2400"/>
          </a:p>
          <a:p>
            <a:pPr marL="0" indent="0">
              <a:lnSpc>
                <a:spcPct val="90000"/>
              </a:lnSpc>
              <a:spcBef>
                <a:spcPts val="1000"/>
              </a:spcBef>
              <a:spcAft>
                <a:spcPts val="0"/>
              </a:spcAft>
              <a:buFont typeface="+mj-lt"/>
              <a:buNone/>
            </a:pPr>
            <a:endParaRPr lang="en-US" altLang="en-US" sz="2400"/>
          </a:p>
          <a:p>
            <a:pPr>
              <a:lnSpc>
                <a:spcPct val="90000"/>
              </a:lnSpc>
              <a:spcBef>
                <a:spcPts val="1000"/>
              </a:spcBef>
              <a:spcAft>
                <a:spcPts val="0"/>
              </a:spcAft>
              <a:buFont typeface="Arial" panose="020B0604020202020204" pitchFamily="34" charset="0"/>
              <a:buChar char="•"/>
            </a:pPr>
            <a:endParaRPr lang="en-US" altLang="en-US" sz="2400"/>
          </a:p>
          <a:p>
            <a:pPr marL="457200" indent="-457200">
              <a:lnSpc>
                <a:spcPct val="90000"/>
              </a:lnSpc>
              <a:spcBef>
                <a:spcPts val="1000"/>
              </a:spcBef>
              <a:spcAft>
                <a:spcPts val="0"/>
              </a:spcAft>
              <a:buFont typeface="+mj-lt"/>
              <a:buAutoNum type="romanLcPeriod"/>
            </a:pPr>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678815" y="733425"/>
            <a:ext cx="10763885" cy="5132070"/>
          </a:xfrm>
        </p:spPr>
        <p:txBody>
          <a:bodyPr>
            <a:noAutofit/>
          </a:bodyPr>
          <a:p>
            <a:pPr>
              <a:lnSpc>
                <a:spcPct val="90000"/>
              </a:lnSpc>
              <a:spcBef>
                <a:spcPts val="1000"/>
              </a:spcBef>
              <a:spcAft>
                <a:spcPts val="0"/>
              </a:spcAft>
              <a:buFont typeface="Arial" panose="020B0604020202020204" pitchFamily="34" charset="0"/>
              <a:buChar char="•"/>
            </a:pPr>
            <a:r>
              <a:rPr lang="en-US" altLang="en-US" sz="2400">
                <a:sym typeface="+mn-ea"/>
              </a:rPr>
              <a:t>Secure Cookies </a:t>
            </a:r>
            <a:r>
              <a:rPr lang="en-IN" altLang="en-US" sz="2400">
                <a:sym typeface="+mn-ea"/>
              </a:rPr>
              <a:t>-</a:t>
            </a:r>
            <a:r>
              <a:rPr lang="en-US" altLang="en-US" sz="2400">
                <a:sym typeface="+mn-ea"/>
              </a:rPr>
              <a:t> Only sent over HTTPS</a:t>
            </a:r>
            <a:endParaRPr lang="en-US" altLang="en-US" sz="2400"/>
          </a:p>
          <a:p>
            <a:pPr>
              <a:lnSpc>
                <a:spcPct val="90000"/>
              </a:lnSpc>
              <a:spcBef>
                <a:spcPts val="1000"/>
              </a:spcBef>
              <a:spcAft>
                <a:spcPts val="0"/>
              </a:spcAft>
              <a:buFont typeface="Arial" panose="020B0604020202020204" pitchFamily="34" charset="0"/>
              <a:buChar char="•"/>
            </a:pPr>
            <a:r>
              <a:rPr lang="en-US" altLang="en-US" sz="2400">
                <a:sym typeface="+mn-ea"/>
              </a:rPr>
              <a:t>HttpOnly Cookies </a:t>
            </a:r>
            <a:r>
              <a:rPr lang="en-IN" altLang="en-US" sz="2400">
                <a:sym typeface="+mn-ea"/>
              </a:rPr>
              <a:t>-</a:t>
            </a:r>
            <a:r>
              <a:rPr lang="en-US" altLang="en-US" sz="2400">
                <a:sym typeface="+mn-ea"/>
              </a:rPr>
              <a:t> Protected from JavaScript access</a:t>
            </a:r>
            <a:endParaRPr lang="en-US" altLang="en-US" sz="2400">
              <a:sym typeface="+mn-ea"/>
            </a:endParaRPr>
          </a:p>
          <a:p>
            <a:pPr>
              <a:lnSpc>
                <a:spcPct val="90000"/>
              </a:lnSpc>
              <a:spcBef>
                <a:spcPts val="1000"/>
              </a:spcBef>
              <a:spcAft>
                <a:spcPts val="0"/>
              </a:spcAft>
              <a:buFont typeface="Arial" panose="020B0604020202020204" pitchFamily="34" charset="0"/>
              <a:buChar char="•"/>
            </a:pPr>
            <a:endParaRPr lang="en-US" altLang="en-US" sz="1600">
              <a:sym typeface="+mn-ea"/>
            </a:endParaRPr>
          </a:p>
          <a:p>
            <a:pPr>
              <a:lnSpc>
                <a:spcPct val="100000"/>
              </a:lnSpc>
              <a:buFont typeface="Wingdings" panose="05000000000000000000" charset="0"/>
              <a:buChar char="Ø"/>
            </a:pPr>
            <a:r>
              <a:rPr lang="en-US" altLang="en-US" u="sng">
                <a:sym typeface="+mn-ea"/>
              </a:rPr>
              <a:t>Where is it stored?</a:t>
            </a:r>
            <a:endParaRPr lang="en-US" altLang="en-US"/>
          </a:p>
          <a:p>
            <a:pPr>
              <a:lnSpc>
                <a:spcPct val="100000"/>
              </a:lnSpc>
            </a:pPr>
            <a:r>
              <a:rPr lang="en-US" altLang="en-US" sz="2400">
                <a:sym typeface="+mn-ea"/>
              </a:rPr>
              <a:t>Inside the browser</a:t>
            </a:r>
            <a:endParaRPr lang="en-US" altLang="en-US" sz="2400"/>
          </a:p>
          <a:p>
            <a:pPr>
              <a:lnSpc>
                <a:spcPct val="90000"/>
              </a:lnSpc>
              <a:spcBef>
                <a:spcPts val="1000"/>
              </a:spcBef>
              <a:spcAft>
                <a:spcPts val="0"/>
              </a:spcAft>
              <a:buFont typeface="Arial" panose="020B0604020202020204" pitchFamily="34" charset="0"/>
              <a:buChar char="•"/>
            </a:pPr>
            <a:r>
              <a:rPr lang="en-US" altLang="en-US" sz="2400">
                <a:sym typeface="+mn-ea"/>
              </a:rPr>
              <a:t> Cookie </a:t>
            </a:r>
            <a:r>
              <a:rPr lang="en-IN" altLang="en-US" sz="2400">
                <a:sym typeface="+mn-ea"/>
              </a:rPr>
              <a:t>- </a:t>
            </a:r>
            <a:r>
              <a:rPr lang="en-US" altLang="en-US" sz="2400">
                <a:sym typeface="+mn-ea"/>
              </a:rPr>
              <a:t>Small data stored in client browser to remember user information</a:t>
            </a:r>
            <a:endParaRPr lang="en-US" altLang="en-US" sz="2400"/>
          </a:p>
          <a:p>
            <a:pPr>
              <a:lnSpc>
                <a:spcPct val="90000"/>
              </a:lnSpc>
              <a:spcBef>
                <a:spcPts val="1000"/>
              </a:spcBef>
              <a:spcAft>
                <a:spcPts val="0"/>
              </a:spcAft>
              <a:buFont typeface="Arial" panose="020B0604020202020204" pitchFamily="34" charset="0"/>
              <a:buChar char="•"/>
            </a:pPr>
            <a:endParaRPr lang="en-US" altLang="en-US" sz="1600"/>
          </a:p>
          <a:p>
            <a:pPr>
              <a:lnSpc>
                <a:spcPct val="90000"/>
              </a:lnSpc>
              <a:spcBef>
                <a:spcPts val="1000"/>
              </a:spcBef>
              <a:spcAft>
                <a:spcPts val="0"/>
              </a:spcAft>
              <a:buFont typeface="Wingdings" panose="05000000000000000000" charset="0"/>
              <a:buChar char="Ø"/>
            </a:pPr>
            <a:endParaRPr lang="en-US" altLang="en-US" sz="1600" u="sng"/>
          </a:p>
          <a:p>
            <a:pPr>
              <a:lnSpc>
                <a:spcPct val="90000"/>
              </a:lnSpc>
              <a:spcBef>
                <a:spcPts val="1000"/>
              </a:spcBef>
              <a:spcAft>
                <a:spcPts val="0"/>
              </a:spcAft>
              <a:buFont typeface="Wingdings" panose="05000000000000000000" charset="0"/>
              <a:buChar char="Ø"/>
            </a:pPr>
            <a:endParaRPr lang="en-US" altLang="en-US"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8881" y="435391"/>
            <a:ext cx="10834233" cy="612775"/>
          </a:xfrm>
        </p:spPr>
        <p:txBody>
          <a:bodyPr/>
          <a:p>
            <a:r>
              <a:rPr lang="en-US" altLang="en-US">
                <a:solidFill>
                  <a:srgbClr val="C00000"/>
                </a:solidFill>
              </a:rPr>
              <a:t>Abstract</a:t>
            </a:r>
            <a:endParaRPr lang="en-US" altLang="en-US">
              <a:solidFill>
                <a:srgbClr val="C00000"/>
              </a:solidFill>
            </a:endParaRPr>
          </a:p>
        </p:txBody>
      </p:sp>
      <p:sp>
        <p:nvSpPr>
          <p:cNvPr id="3" name="Content Placeholder 2"/>
          <p:cNvSpPr>
            <a:spLocks noGrp="1"/>
          </p:cNvSpPr>
          <p:nvPr>
            <p:ph sz="half" idx="1"/>
          </p:nvPr>
        </p:nvSpPr>
        <p:spPr>
          <a:xfrm>
            <a:off x="678815" y="1478280"/>
            <a:ext cx="10913110" cy="4580890"/>
          </a:xfrm>
        </p:spPr>
        <p:txBody>
          <a:bodyPr>
            <a:normAutofit/>
          </a:bodyPr>
          <a:p>
            <a:pPr marL="0" indent="0">
              <a:lnSpc>
                <a:spcPct val="100000"/>
              </a:lnSpc>
              <a:buNone/>
            </a:pPr>
            <a:r>
              <a:rPr lang="en-US" altLang="en-US" b="1" u="sng"/>
              <a:t>Damn Vulnerable Web Application</a:t>
            </a:r>
            <a:r>
              <a:rPr lang="en-IN" altLang="en-US" b="1" u="sng"/>
              <a:t> </a:t>
            </a:r>
            <a:r>
              <a:rPr lang="en-IN" altLang="en-US" b="1" u="sng">
                <a:sym typeface="+mn-ea"/>
              </a:rPr>
              <a:t>(</a:t>
            </a:r>
            <a:r>
              <a:rPr lang="en-US" altLang="en-US" b="1" u="sng">
                <a:sym typeface="+mn-ea"/>
              </a:rPr>
              <a:t>DVWA</a:t>
            </a:r>
            <a:r>
              <a:rPr lang="en-IN" altLang="en-US" b="1" u="sng">
                <a:sym typeface="+mn-ea"/>
              </a:rPr>
              <a:t>) </a:t>
            </a:r>
            <a:endParaRPr lang="en-IN" altLang="en-US" b="1" u="sng">
              <a:sym typeface="+mn-ea"/>
            </a:endParaRPr>
          </a:p>
          <a:p>
            <a:pPr marL="0" indent="0">
              <a:lnSpc>
                <a:spcPct val="100000"/>
              </a:lnSpc>
              <a:buNone/>
            </a:pPr>
            <a:r>
              <a:rPr lang="en-IN" altLang="en-US"/>
              <a:t> </a:t>
            </a:r>
            <a:endParaRPr lang="en-IN" altLang="en-US"/>
          </a:p>
          <a:p>
            <a:pPr algn="just">
              <a:lnSpc>
                <a:spcPct val="100000"/>
              </a:lnSpc>
            </a:pPr>
            <a:r>
              <a:rPr lang="en-US" altLang="en-US" sz="2400">
                <a:sym typeface="+mn-ea"/>
              </a:rPr>
              <a:t>DVWA</a:t>
            </a:r>
            <a:r>
              <a:rPr lang="en-IN" altLang="en-US" sz="2400">
                <a:sym typeface="+mn-ea"/>
              </a:rPr>
              <a:t> </a:t>
            </a:r>
            <a:r>
              <a:rPr lang="en-US" altLang="en-US" sz="2400"/>
              <a:t>is an intentionally insecure web application used to practice real-world security attacks. In this project, Session Hijacking was tested to understand how attackers can steal or misuse session cookies to gain unauthorized access. By analyzing session IDs, manipulating cookies, and testing different security levels, we learned how poor session management can be exploited and how protections like secure cookie flags and session regeneration can prevent such attacks.</a:t>
            </a:r>
            <a:endParaRPr lang="en-US" altLang="en-US" sz="2400"/>
          </a:p>
          <a:p>
            <a:pPr marL="0" indent="0" algn="just">
              <a:buNone/>
            </a:pPr>
            <a:endParaRPr lang="en-US" altLang="en-US"/>
          </a:p>
          <a:p>
            <a:pPr algn="just">
              <a:buFont typeface="Arial" panose="020B0604020202020204" pitchFamily="34" charset="0"/>
              <a:buChar char="•"/>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678815" y="454660"/>
            <a:ext cx="10899775" cy="5604510"/>
          </a:xfrm>
        </p:spPr>
        <p:txBody>
          <a:bodyPr>
            <a:normAutofit fontScale="90000"/>
          </a:bodyPr>
          <a:p>
            <a:pPr marL="0" indent="0">
              <a:buNone/>
            </a:pPr>
            <a:r>
              <a:rPr lang="en-US" altLang="en-US" sz="3110" b="1" u="sng"/>
              <a:t>OWASP Juice Shop</a:t>
            </a:r>
            <a:endParaRPr lang="en-US" altLang="en-US" sz="3110" b="1" u="sng"/>
          </a:p>
          <a:p>
            <a:pPr algn="just">
              <a:buFont typeface="Arial" panose="020B0604020202020204" pitchFamily="34" charset="0"/>
              <a:buChar char="•"/>
            </a:pPr>
            <a:r>
              <a:rPr lang="en-US" altLang="en-US" sz="2665"/>
              <a:t>This project demonstrates how insecure session management in web applications can be exploited to hijack user sessions. By capturing and reusing session cookies, an attacker can impersonate legitimate users, highlighting the risks associated with weak session handling. The exercise emphasizes the importance of secure session practices to protect sensitive user information.</a:t>
            </a:r>
            <a:endParaRPr lang="en-US" altLang="en-US" sz="2665"/>
          </a:p>
          <a:p>
            <a:pPr algn="just">
              <a:buFont typeface="Arial" panose="020B0604020202020204" pitchFamily="34" charset="0"/>
              <a:buChar char="•"/>
            </a:pPr>
            <a:endParaRPr lang="en-US" altLang="en-US" sz="2665"/>
          </a:p>
          <a:p>
            <a:pPr algn="just">
              <a:buFont typeface="Arial" panose="020B0604020202020204" pitchFamily="34" charset="0"/>
              <a:buChar char="•"/>
            </a:pPr>
            <a:r>
              <a:rPr lang="en-US" altLang="en-US" sz="2665">
                <a:sym typeface="+mn-ea"/>
              </a:rPr>
              <a:t>The goal of the research is to determine whether the website in question is susceptible and whether its session IDs and cookies have been made public.</a:t>
            </a:r>
            <a:endParaRPr lang="en-US" altLang="en-US" sz="2665">
              <a:sym typeface="+mn-ea"/>
            </a:endParaRPr>
          </a:p>
          <a:p>
            <a:pPr marL="0" indent="0" algn="just">
              <a:buFont typeface="Arial" panose="020B0604020202020204" pitchFamily="34" charset="0"/>
              <a:buNone/>
            </a:pPr>
            <a:endParaRPr lang="en-US" altLang="en-US" sz="2665">
              <a:sym typeface="+mn-ea"/>
            </a:endParaRPr>
          </a:p>
          <a:p>
            <a:pPr algn="just">
              <a:buFont typeface="Arial" panose="020B0604020202020204" pitchFamily="34" charset="0"/>
              <a:buChar char="•"/>
            </a:pPr>
            <a:r>
              <a:rPr lang="en-US" altLang="en-US" sz="2665"/>
              <a:t>The study examines strategies used to hijack sessions, giving the knowledge needed to defend their platforms from these kinds of attacks. Knowing these techniques will help us put strong security measures in place to protect user information and enhance the user experience as a whole.</a:t>
            </a:r>
            <a:endParaRPr lang="en-US" altLang="en-US" sz="2665"/>
          </a:p>
          <a:p>
            <a:pPr algn="just">
              <a:buFont typeface="Arial" panose="020B0604020202020204" pitchFamily="34" charset="0"/>
              <a:buChar char="•"/>
            </a:pPr>
            <a:endParaRPr lang="en-US" altLang="en-US" sz="266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olidFill>
                  <a:srgbClr val="C00000"/>
                </a:solidFill>
              </a:rPr>
              <a:t>Objective</a:t>
            </a:r>
            <a:endParaRPr lang="en-IN" altLang="en-US">
              <a:solidFill>
                <a:srgbClr val="C00000"/>
              </a:solidFill>
            </a:endParaRPr>
          </a:p>
        </p:txBody>
      </p:sp>
      <p:sp>
        <p:nvSpPr>
          <p:cNvPr id="3" name="Content Placeholder 2"/>
          <p:cNvSpPr>
            <a:spLocks noGrp="1"/>
          </p:cNvSpPr>
          <p:nvPr>
            <p:ph sz="half" idx="1"/>
          </p:nvPr>
        </p:nvSpPr>
        <p:spPr>
          <a:xfrm>
            <a:off x="678815" y="1216025"/>
            <a:ext cx="10833735" cy="4843145"/>
          </a:xfrm>
        </p:spPr>
        <p:txBody>
          <a:bodyPr>
            <a:normAutofit lnSpcReduction="10000"/>
          </a:bodyPr>
          <a:p>
            <a:r>
              <a:rPr lang="en-US" altLang="en-US" sz="2400"/>
              <a:t>The </a:t>
            </a:r>
            <a:r>
              <a:rPr lang="en-US" altLang="en-US" sz="2400" b="1"/>
              <a:t>objective</a:t>
            </a:r>
            <a:r>
              <a:rPr lang="en-US" altLang="en-US" sz="2400"/>
              <a:t> of this study is to identify the vulnerabilities in a website called </a:t>
            </a:r>
            <a:r>
              <a:rPr lang="en-IN" altLang="en-US" sz="2400"/>
              <a:t>dvwa,owasp juice shop</a:t>
            </a:r>
            <a:r>
              <a:rPr lang="en-US" altLang="en-US" sz="2400"/>
              <a:t> and is examined through Burp Suite, a well-known application for web application penetration testing.</a:t>
            </a:r>
            <a:endParaRPr lang="en-US" altLang="en-US" sz="2400"/>
          </a:p>
          <a:p>
            <a:r>
              <a:rPr lang="en-US" altLang="en-US" sz="2400"/>
              <a:t>The main focus is determining how attackers can exploit this vulnerability to steal user's session IDs and gain unlawful access to accounts.</a:t>
            </a:r>
            <a:endParaRPr lang="en-US" altLang="en-US" sz="2400"/>
          </a:p>
          <a:p>
            <a:r>
              <a:rPr lang="en-US" altLang="en-US" sz="2400"/>
              <a:t>Target and Scope: It specifically targets sensitive aspects of the </a:t>
            </a:r>
            <a:r>
              <a:rPr lang="en-IN" altLang="en-US" sz="2400"/>
              <a:t>dvwa,owasp juice shop</a:t>
            </a:r>
            <a:r>
              <a:rPr lang="en-US" altLang="en-US" sz="2400"/>
              <a:t> website, such as account management, login, and other areas.</a:t>
            </a:r>
            <a:endParaRPr lang="en-US" altLang="en-US" sz="2400"/>
          </a:p>
          <a:p>
            <a:r>
              <a:rPr lang="en-US" altLang="en-US" sz="2400"/>
              <a:t>Suggestions: The study's specific goal is to establish areas of weakness and potential countermeasures that lower the likelihood of session hijacking.</a:t>
            </a:r>
            <a:endParaRPr lang="en-US" altLang="en-US" sz="2400"/>
          </a:p>
          <a:p>
            <a:r>
              <a:rPr lang="en-US" altLang="en-US" sz="2400"/>
              <a:t>Some ways that can be recommended are setting browser security preferences, using secure connections, setting a good password or using multi-factor passwords, monitoring account activities regularly, constantly updating the software, and using WPA/WPA2-protected Wi-Fi carefully.</a:t>
            </a:r>
            <a:endParaRPr lang="en-US" altLang="en-US" sz="2400"/>
          </a:p>
          <a:p>
            <a:pPr marL="0" indent="0">
              <a:buNone/>
            </a:pPr>
            <a:endParaRPr lang="en-US" altLang="en-US" sz="2400"/>
          </a:p>
          <a:p>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olidFill>
                  <a:srgbClr val="C00000"/>
                </a:solidFill>
                <a:sym typeface="+mn-ea"/>
              </a:rPr>
              <a:t> Methodology &amp; Tools</a:t>
            </a:r>
            <a:endParaRPr lang="en-US" altLang="en-US">
              <a:solidFill>
                <a:srgbClr val="C00000"/>
              </a:solidFill>
              <a:sym typeface="+mn-ea"/>
            </a:endParaRPr>
          </a:p>
        </p:txBody>
      </p:sp>
      <p:sp>
        <p:nvSpPr>
          <p:cNvPr id="3" name="Content Placeholder 2"/>
          <p:cNvSpPr>
            <a:spLocks noGrp="1"/>
          </p:cNvSpPr>
          <p:nvPr>
            <p:ph sz="half" idx="1"/>
          </p:nvPr>
        </p:nvSpPr>
        <p:spPr>
          <a:xfrm>
            <a:off x="678815" y="1659890"/>
            <a:ext cx="10576560" cy="4399280"/>
          </a:xfrm>
        </p:spPr>
        <p:txBody>
          <a:bodyPr>
            <a:normAutofit fontScale="25000"/>
          </a:bodyPr>
          <a:p>
            <a:pPr marL="0" indent="0">
              <a:buNone/>
            </a:pPr>
            <a:r>
              <a:rPr lang="en-US" altLang="en-US" sz="9600"/>
              <a:t> </a:t>
            </a:r>
            <a:r>
              <a:rPr lang="en-US" altLang="en-US" sz="11200" b="1" u="sng"/>
              <a:t>Scope &amp; Assumptions</a:t>
            </a:r>
            <a:endParaRPr lang="en-US" altLang="en-US" sz="9600"/>
          </a:p>
          <a:p>
            <a:r>
              <a:rPr lang="en-US" altLang="en-US" sz="9600"/>
              <a:t>Targets: Local instances of OWASP Juice Shop and DVWA running inside a Kali Linux VM on VMware.</a:t>
            </a:r>
            <a:endParaRPr lang="en-US" altLang="en-US" sz="9600"/>
          </a:p>
          <a:p>
            <a:r>
              <a:rPr lang="en-US" altLang="en-US" sz="9600"/>
              <a:t> Tests limited to lab environment only — no external/third-party systems</a:t>
            </a:r>
            <a:endParaRPr lang="en-US" altLang="en-US" sz="9600"/>
          </a:p>
          <a:p>
            <a:r>
              <a:rPr lang="en-US" altLang="en-US" sz="9600"/>
              <a:t>Focus areas: cookie attributes and lifecycle, session generation and rotation, session invalidation, and indicators of session hijacking risk.</a:t>
            </a:r>
            <a:endParaRPr lang="en-US" altLang="en-US" sz="9600"/>
          </a:p>
          <a:p>
            <a:r>
              <a:rPr lang="en-US" altLang="en-US" sz="9600"/>
              <a:t>Reconnaissance (Passive): Use browser DevTools and curl to inspect HTTP(S) responses, Set-Cookie headers, Referrer/Origin behavior, and any token leakage in pages or URLs. Record cookie names, attributes (HttpOnly, Secure, SameSite, Domain, Path, Expires/Max-Age) and storage locations (cookies vs. localStorage).</a:t>
            </a:r>
            <a:endParaRPr lang="en-US" altLang="en-US" sz="9600"/>
          </a:p>
          <a:p>
            <a:endParaRPr lang="en-US" altLang="en-US" sz="9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678815" y="804545"/>
            <a:ext cx="10732135" cy="5267325"/>
          </a:xfrm>
        </p:spPr>
        <p:txBody>
          <a:bodyPr>
            <a:noAutofit/>
          </a:bodyPr>
          <a:p>
            <a:r>
              <a:rPr lang="en-US" altLang="en-US" sz="2400">
                <a:sym typeface="+mn-ea"/>
              </a:rPr>
              <a:t>Controlled Active Testing (Non-destructive): In the isolated lab, perform minimal, authorized interactions to trigger session creation, logout, login, and privilege changes to observe  session lifecycle behavior (creation, regeneration, invalidation). Do not attempt exploits against real targets.</a:t>
            </a:r>
            <a:endParaRPr lang="en-US" altLang="en-US" sz="2400"/>
          </a:p>
          <a:p>
            <a:r>
              <a:rPr lang="en-US" altLang="en-US" sz="2400">
                <a:sym typeface="+mn-ea"/>
              </a:rPr>
              <a:t>Analysis: Compare observations against best practices (secure cookie flags, session regeneration on auth, non-persistence of tokens in URLs or localStorage, entropy/length expectations). Document anomalies and their severity.</a:t>
            </a:r>
            <a:endParaRPr lang="en-US" altLang="en-US" sz="2400"/>
          </a:p>
          <a:p>
            <a:r>
              <a:rPr lang="en-US" altLang="en-US" sz="2400">
                <a:sym typeface="+mn-ea"/>
              </a:rPr>
              <a:t>Validation of Mitigations: After applying a defensive configuration (e.g., enabling HttpOnly/Secure), re-run the same passive checks to confirm mitigations are effective.</a:t>
            </a:r>
            <a:endParaRPr lang="en-US" altLang="en-US" sz="2400"/>
          </a:p>
          <a:p>
            <a:r>
              <a:rPr lang="en-US" altLang="en-US" sz="2400">
                <a:sym typeface="+mn-ea"/>
              </a:rPr>
              <a:t> Evidence &amp; Reportingo Captured screenshots of browser DevTools (Network / Application → Cookies), curl  -I outputs, and proxy captures (with sensitive values redacted).</a:t>
            </a:r>
            <a:endParaRPr lang="en-US" altLang="en-US" sz="2400"/>
          </a:p>
          <a:p>
            <a:pPr marL="0" indent="0">
              <a:buNone/>
            </a:pPr>
            <a:r>
              <a:rPr lang="en-IN" altLang="en-US" sz="2400">
                <a:sym typeface="+mn-ea"/>
              </a:rPr>
              <a:t>      </a:t>
            </a:r>
            <a:r>
              <a:rPr lang="en-US" altLang="en-US" sz="2400">
                <a:sym typeface="+mn-ea"/>
              </a:rPr>
              <a:t> </a:t>
            </a:r>
            <a:endParaRPr lang="en-US" altLang="en-US"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678815" y="565150"/>
            <a:ext cx="10666730" cy="5504180"/>
          </a:xfrm>
        </p:spPr>
        <p:txBody>
          <a:bodyPr>
            <a:noAutofit/>
          </a:bodyPr>
          <a:p>
            <a:pPr algn="just"/>
            <a:r>
              <a:rPr lang="en-US" altLang="en-US" sz="2400">
                <a:sym typeface="+mn-ea"/>
              </a:rPr>
              <a:t>Produce a compact findings table listing observed misconfigurations, evidence (screenshot/headers), severity, and remediation notes.</a:t>
            </a:r>
            <a:endParaRPr lang="en-US" altLang="en-US" sz="2400"/>
          </a:p>
          <a:p>
            <a:pPr algn="just"/>
            <a:r>
              <a:rPr lang="en-US" altLang="en-US" sz="2400"/>
              <a:t>Tools </a:t>
            </a:r>
            <a:endParaRPr lang="en-US" altLang="en-US" sz="2400"/>
          </a:p>
          <a:p>
            <a:pPr marL="0" indent="0" algn="just">
              <a:buNone/>
            </a:pPr>
            <a:r>
              <a:rPr lang="en-US" altLang="en-US" sz="2400" b="1" u="sng"/>
              <a:t>Browser &amp; Extensions</a:t>
            </a:r>
            <a:endParaRPr lang="en-US" altLang="en-US" sz="2400" b="1" u="sng"/>
          </a:p>
          <a:p>
            <a:pPr algn="just"/>
            <a:r>
              <a:rPr lang="en-US" altLang="en-US" sz="2400"/>
              <a:t> Firefox or Chromium (DevTools → Network &amp; Application storage panes)</a:t>
            </a:r>
            <a:endParaRPr lang="en-US" altLang="en-US" sz="2400"/>
          </a:p>
          <a:p>
            <a:pPr algn="just"/>
            <a:r>
              <a:rPr lang="en-US" altLang="en-US" sz="2400"/>
              <a:t>Wappalyzer for stack fingerprinting of local instances</a:t>
            </a:r>
            <a:endParaRPr lang="en-US" altLang="en-US" sz="2400"/>
          </a:p>
          <a:p>
            <a:pPr marL="0" indent="0" algn="just">
              <a:buNone/>
            </a:pPr>
            <a:r>
              <a:rPr lang="en-US" altLang="en-US" sz="2400" b="1" u="sng"/>
              <a:t>Command-line</a:t>
            </a:r>
            <a:endParaRPr lang="en-US" altLang="en-US" sz="2400" b="1" u="sng"/>
          </a:p>
          <a:p>
            <a:pPr marL="0" indent="0" algn="just">
              <a:buNone/>
            </a:pPr>
            <a:r>
              <a:rPr lang="en-US" altLang="en-US" sz="2400"/>
              <a:t>curl / httpie — inspect response headers and Set-Cookie lines (curl -I -s -k https://... | grep -i Set-Cookie)</a:t>
            </a:r>
            <a:endParaRPr lang="en-US" altLang="en-US" sz="2400"/>
          </a:p>
          <a:p>
            <a:pPr marL="0" indent="0" algn="just">
              <a:buNone/>
            </a:pPr>
            <a:r>
              <a:rPr lang="en-US" altLang="en-US" sz="2400" b="1" u="sng"/>
              <a:t>Proxies &amp; Interception</a:t>
            </a:r>
            <a:endParaRPr lang="en-US" altLang="en-US" sz="2400" b="1" u="sng"/>
          </a:p>
          <a:p>
            <a:pPr algn="just"/>
            <a:r>
              <a:rPr lang="en-US" altLang="en-US" sz="2400"/>
              <a:t>Burp Suite Community or OWASP ZAP — intercept, inspect, and replay requests in the lab</a:t>
            </a: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8881" y="491906"/>
            <a:ext cx="10834233" cy="612775"/>
          </a:xfrm>
        </p:spPr>
        <p:txBody>
          <a:bodyPr/>
          <a:p>
            <a:r>
              <a:rPr lang="en-IN" altLang="en-US">
                <a:solidFill>
                  <a:srgbClr val="C00000"/>
                </a:solidFill>
              </a:rPr>
              <a:t>T</a:t>
            </a:r>
            <a:r>
              <a:rPr lang="en-US" altLang="en-US">
                <a:solidFill>
                  <a:srgbClr val="C00000"/>
                </a:solidFill>
              </a:rPr>
              <a:t>echnolog</a:t>
            </a:r>
            <a:r>
              <a:rPr lang="en-IN" altLang="en-US">
                <a:solidFill>
                  <a:srgbClr val="C00000"/>
                </a:solidFill>
              </a:rPr>
              <a:t>ies</a:t>
            </a:r>
            <a:r>
              <a:rPr lang="en-US" altLang="en-US">
                <a:solidFill>
                  <a:srgbClr val="C00000"/>
                </a:solidFill>
              </a:rPr>
              <a:t> used</a:t>
            </a:r>
            <a:r>
              <a:rPr lang="en-IN" altLang="en-US">
                <a:solidFill>
                  <a:srgbClr val="C00000"/>
                </a:solidFill>
              </a:rPr>
              <a:t> in this websites</a:t>
            </a:r>
            <a:endParaRPr lang="en-IN" altLang="en-US">
              <a:solidFill>
                <a:srgbClr val="C00000"/>
              </a:solidFill>
            </a:endParaRPr>
          </a:p>
        </p:txBody>
      </p:sp>
      <p:sp>
        <p:nvSpPr>
          <p:cNvPr id="3" name="Content Placeholder 2"/>
          <p:cNvSpPr>
            <a:spLocks noGrp="1"/>
          </p:cNvSpPr>
          <p:nvPr>
            <p:ph sz="half" idx="1"/>
          </p:nvPr>
        </p:nvSpPr>
        <p:spPr>
          <a:xfrm>
            <a:off x="678815" y="1294130"/>
            <a:ext cx="5340985" cy="4399280"/>
          </a:xfrm>
        </p:spPr>
        <p:txBody>
          <a:bodyPr>
            <a:normAutofit fontScale="25000"/>
          </a:bodyPr>
          <a:p>
            <a:pPr>
              <a:buFont typeface="Wingdings" panose="05000000000000000000" charset="0"/>
              <a:buChar char="Ø"/>
            </a:pPr>
            <a:r>
              <a:rPr lang="en-US" altLang="en-US" sz="9600" b="1"/>
              <a:t>DVWA (Damn Vulnerable Web Application) – Technologies</a:t>
            </a:r>
            <a:endParaRPr lang="en-US" altLang="en-US" sz="9600" b="1"/>
          </a:p>
          <a:p>
            <a:endParaRPr lang="en-US" altLang="en-US"/>
          </a:p>
          <a:p>
            <a:r>
              <a:rPr lang="en-IN" altLang="en-US" sz="8800"/>
              <a:t>P</a:t>
            </a:r>
            <a:r>
              <a:rPr lang="en-US" altLang="en-US" sz="8800"/>
              <a:t>rogramming Language: PHP</a:t>
            </a:r>
            <a:endParaRPr lang="en-US" altLang="en-US" sz="8800"/>
          </a:p>
          <a:p>
            <a:r>
              <a:rPr lang="en-US" altLang="en-US" sz="8800"/>
              <a:t>Web Server: Apache</a:t>
            </a:r>
            <a:endParaRPr lang="en-US" altLang="en-US" sz="8800"/>
          </a:p>
          <a:p>
            <a:r>
              <a:rPr lang="en-US" altLang="en-US" sz="8800"/>
              <a:t>Database: MySQL / MariaDB</a:t>
            </a:r>
            <a:endParaRPr lang="en-US" altLang="en-US" sz="8800"/>
          </a:p>
          <a:p>
            <a:r>
              <a:rPr lang="en-US" altLang="en-US" sz="8800"/>
              <a:t>Platform: LAMP/WAMP/XAMPP stack</a:t>
            </a:r>
            <a:endParaRPr lang="en-US" altLang="en-US" sz="8800"/>
          </a:p>
          <a:p>
            <a:r>
              <a:rPr lang="en-US" altLang="en-US" sz="8800"/>
              <a:t>Frontend: HTML, CSS, JavaScript</a:t>
            </a:r>
            <a:endParaRPr lang="en-US" altLang="en-US" sz="8800"/>
          </a:p>
          <a:p>
            <a:r>
              <a:rPr lang="en-US" altLang="en-US" sz="8800"/>
              <a:t>Security Levels: Configurable (Low, Medium, High)</a:t>
            </a:r>
            <a:endParaRPr lang="en-US" altLang="en-US" sz="8800"/>
          </a:p>
        </p:txBody>
      </p:sp>
      <p:sp>
        <p:nvSpPr>
          <p:cNvPr id="4" name="Content Placeholder 3"/>
          <p:cNvSpPr>
            <a:spLocks noGrp="1"/>
          </p:cNvSpPr>
          <p:nvPr>
            <p:ph sz="half" idx="2"/>
          </p:nvPr>
        </p:nvSpPr>
        <p:spPr>
          <a:xfrm>
            <a:off x="6172199" y="1314395"/>
            <a:ext cx="5340917" cy="4399442"/>
          </a:xfrm>
        </p:spPr>
        <p:txBody>
          <a:bodyPr>
            <a:normAutofit fontScale="80000"/>
          </a:bodyPr>
          <a:p>
            <a:pPr>
              <a:buFont typeface="Wingdings" panose="05000000000000000000" charset="0"/>
              <a:buChar char="Ø"/>
            </a:pPr>
            <a:r>
              <a:rPr lang="en-US" altLang="en-US" sz="3000" b="1"/>
              <a:t>OWASP Juice Shop – Technologies</a:t>
            </a:r>
            <a:endParaRPr lang="en-US" altLang="en-US" sz="3000" b="1"/>
          </a:p>
          <a:p>
            <a:pPr marL="0" indent="0">
              <a:buFont typeface="Wingdings" panose="05000000000000000000" charset="0"/>
              <a:buNone/>
            </a:pPr>
            <a:endParaRPr lang="en-US" altLang="en-US" sz="3000"/>
          </a:p>
          <a:p>
            <a:r>
              <a:rPr lang="en-US" altLang="en-US"/>
              <a:t>Programming Language: JavaScript</a:t>
            </a:r>
            <a:endParaRPr lang="en-US" altLang="en-US"/>
          </a:p>
          <a:p>
            <a:r>
              <a:rPr lang="en-US" altLang="en-US"/>
              <a:t>Backend Framework: Node.js + Express.js</a:t>
            </a:r>
            <a:endParaRPr lang="en-US" altLang="en-US"/>
          </a:p>
          <a:p>
            <a:r>
              <a:rPr lang="en-US" altLang="en-US"/>
              <a:t>Frontend Framework: Angular</a:t>
            </a:r>
            <a:endParaRPr lang="en-US" altLang="en-US"/>
          </a:p>
          <a:p>
            <a:r>
              <a:rPr lang="en-US" altLang="en-US"/>
              <a:t>Database: SQLite (default), can also support others</a:t>
            </a:r>
            <a:endParaRPr lang="en-US" altLang="en-US"/>
          </a:p>
          <a:p>
            <a:r>
              <a:rPr lang="en-US" altLang="en-US"/>
              <a:t>Platform: Web application running on Node environment</a:t>
            </a:r>
            <a:endParaRPr lang="en-US" altLang="en-US"/>
          </a:p>
          <a:p>
            <a:r>
              <a:rPr lang="en-US" altLang="en-US"/>
              <a:t>Container Support: Docker, Kubernetes</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IN" sz="3200"/>
              <a:t>TOOLS</a:t>
            </a:r>
            <a:endParaRPr lang="en-IN" sz="3200"/>
          </a:p>
        </p:txBody>
      </p:sp>
      <p:sp>
        <p:nvSpPr>
          <p:cNvPr id="5" name="Content Placeholder 4"/>
          <p:cNvSpPr>
            <a:spLocks noGrp="1"/>
          </p:cNvSpPr>
          <p:nvPr>
            <p:ph idx="1"/>
          </p:nvPr>
        </p:nvSpPr>
        <p:spPr/>
        <p:txBody>
          <a:bodyPr/>
          <a:lstStyle/>
          <a:p>
            <a:r>
              <a:rPr lang="en-US" altLang="en-US"/>
              <a:t>Kali Linux Documentation</a:t>
            </a:r>
            <a:endParaRPr lang="en-US" altLang="en-US"/>
          </a:p>
          <a:p>
            <a:pPr marL="0" indent="0">
              <a:buNone/>
            </a:pPr>
            <a:endParaRPr lang="en-US" altLang="en-US"/>
          </a:p>
          <a:p>
            <a:r>
              <a:rPr lang="en-US" altLang="en-US"/>
              <a:t>VMware Workstation/Player</a:t>
            </a:r>
            <a:endParaRPr lang="en-US" altLang="en-US"/>
          </a:p>
          <a:p>
            <a:endParaRPr lang="en-US" altLang="en-US"/>
          </a:p>
          <a:p>
            <a:r>
              <a:rPr lang="en-US" altLang="en-US"/>
              <a:t>Burp Suite Community Edition</a:t>
            </a:r>
            <a:endParaRPr lang="en-US" altLang="en-US"/>
          </a:p>
          <a:p>
            <a:pPr marL="0" indent="0">
              <a:buNone/>
            </a:pPr>
            <a:endParaRPr lang="en-US" altLang="en-US"/>
          </a:p>
          <a:p>
            <a:r>
              <a:rPr lang="en-US" altLang="en-US"/>
              <a:t>Firefox Developer Tools</a:t>
            </a:r>
            <a:endParaRPr lang="en-US" altLang="en-US"/>
          </a:p>
        </p:txBody>
      </p:sp>
      <p:sp>
        <p:nvSpPr>
          <p:cNvPr id="2" name="Text Box 1"/>
          <p:cNvSpPr txBox="1"/>
          <p:nvPr/>
        </p:nvSpPr>
        <p:spPr>
          <a:xfrm>
            <a:off x="6863080" y="603885"/>
            <a:ext cx="4064000" cy="612775"/>
          </a:xfrm>
          <a:prstGeom prst="rect">
            <a:avLst/>
          </a:prstGeom>
          <a:noFill/>
        </p:spPr>
        <p:txBody>
          <a:bodyPr wrap="square" rtlCol="0">
            <a:noAutofit/>
          </a:bodyPr>
          <a:p>
            <a:pPr algn="ctr"/>
            <a:r>
              <a:rPr lang="en-IN" altLang="en-US" sz="3200">
                <a:solidFill>
                  <a:schemeClr val="bg1"/>
                </a:solidFill>
              </a:rPr>
              <a:t>CODE</a:t>
            </a:r>
            <a:endParaRPr lang="en-IN" altLang="en-US" sz="3200">
              <a:solidFill>
                <a:schemeClr val="bg1"/>
              </a:solidFill>
            </a:endParaRPr>
          </a:p>
        </p:txBody>
      </p:sp>
      <p:sp>
        <p:nvSpPr>
          <p:cNvPr id="3" name="Text Box 2"/>
          <p:cNvSpPr txBox="1"/>
          <p:nvPr/>
        </p:nvSpPr>
        <p:spPr>
          <a:xfrm>
            <a:off x="6698615" y="1659890"/>
            <a:ext cx="4297045" cy="4152900"/>
          </a:xfrm>
          <a:prstGeom prst="rect">
            <a:avLst/>
          </a:prstGeom>
          <a:noFill/>
        </p:spPr>
        <p:txBody>
          <a:bodyPr wrap="square" rtlCol="0">
            <a:noAutofit/>
          </a:bodyPr>
          <a:p>
            <a:r>
              <a:rPr lang="en-US" altLang="en-US" sz="2400">
                <a:solidFill>
                  <a:schemeClr val="bg1"/>
                </a:solidFill>
              </a:rPr>
              <a:t> https://www.kali.org/docs/</a:t>
            </a:r>
            <a:endParaRPr lang="en-US" altLang="en-US" sz="2400">
              <a:solidFill>
                <a:schemeClr val="bg1"/>
              </a:solidFill>
            </a:endParaRPr>
          </a:p>
          <a:p>
            <a:endParaRPr lang="en-US" altLang="en-US" sz="2400">
              <a:solidFill>
                <a:schemeClr val="bg1"/>
              </a:solidFill>
            </a:endParaRPr>
          </a:p>
          <a:p>
            <a:r>
              <a:rPr lang="en-US" altLang="en-US" sz="2400">
                <a:solidFill>
                  <a:schemeClr val="bg1"/>
                </a:solidFill>
              </a:rPr>
              <a:t>https://www.vmware.com/products/workstationpro.html</a:t>
            </a:r>
            <a:endParaRPr lang="en-US" altLang="en-US" sz="2400">
              <a:solidFill>
                <a:schemeClr val="bg1"/>
              </a:solidFill>
            </a:endParaRPr>
          </a:p>
          <a:p>
            <a:endParaRPr lang="en-US" altLang="en-US" sz="2400">
              <a:solidFill>
                <a:schemeClr val="bg1"/>
              </a:solidFill>
            </a:endParaRPr>
          </a:p>
          <a:p>
            <a:r>
              <a:rPr lang="en-US" altLang="en-US" sz="2400">
                <a:solidFill>
                  <a:schemeClr val="bg1"/>
                </a:solidFill>
              </a:rPr>
              <a:t>https://portswigger.net/burp/</a:t>
            </a:r>
            <a:r>
              <a:rPr lang="en-IN" altLang="en-US" sz="2400">
                <a:solidFill>
                  <a:schemeClr val="bg1"/>
                </a:solidFill>
              </a:rPr>
              <a:t>co</a:t>
            </a:r>
            <a:r>
              <a:rPr lang="en-US" altLang="en-US" sz="2400">
                <a:solidFill>
                  <a:schemeClr val="bg1"/>
                </a:solidFill>
              </a:rPr>
              <a:t>mmunitydownload</a:t>
            </a:r>
            <a:endParaRPr lang="en-US" altLang="en-US" sz="2400">
              <a:solidFill>
                <a:schemeClr val="bg1"/>
              </a:solidFill>
            </a:endParaRPr>
          </a:p>
          <a:p>
            <a:endParaRPr lang="en-US" altLang="en-US" sz="2400">
              <a:solidFill>
                <a:schemeClr val="bg1"/>
              </a:solidFill>
            </a:endParaRPr>
          </a:p>
          <a:p>
            <a:r>
              <a:rPr lang="en-US" altLang="en-US" sz="2400">
                <a:solidFill>
                  <a:schemeClr val="bg1"/>
                </a:solidFill>
              </a:rPr>
              <a:t>https://firefox-source-docs.mozilla.org/devtoolsuser/index.html</a:t>
            </a:r>
            <a:endParaRPr lang="en-US" altLang="en-US" sz="240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9971" y="396656"/>
            <a:ext cx="10834233" cy="612775"/>
          </a:xfrm>
        </p:spPr>
        <p:txBody>
          <a:bodyPr>
            <a:normAutofit/>
          </a:bodyPr>
          <a:lstStyle/>
          <a:p>
            <a:r>
              <a:rPr lang="en-IN" altLang="en-US" dirty="0">
                <a:solidFill>
                  <a:srgbClr val="C00000"/>
                </a:solidFill>
              </a:rPr>
              <a:t>Proof of concept (POC) DVWA</a:t>
            </a:r>
            <a:endParaRPr lang="en-IN" altLang="en-US" dirty="0">
              <a:solidFill>
                <a:srgbClr val="C00000"/>
              </a:solidFill>
            </a:endParaRPr>
          </a:p>
        </p:txBody>
      </p:sp>
      <p:sp>
        <p:nvSpPr>
          <p:cNvPr id="2" name="Content Placeholder 1"/>
          <p:cNvSpPr>
            <a:spLocks noGrp="1"/>
          </p:cNvSpPr>
          <p:nvPr>
            <p:ph sz="half" idx="1"/>
          </p:nvPr>
        </p:nvSpPr>
        <p:spPr>
          <a:xfrm>
            <a:off x="679450" y="5631180"/>
            <a:ext cx="10369550" cy="537845"/>
          </a:xfrm>
        </p:spPr>
        <p:txBody>
          <a:bodyPr lIns="0" tIns="0" rIns="0" bIns="0" numCol="2">
            <a:normAutofit/>
          </a:bodyPr>
          <a:lstStyle/>
          <a:p>
            <a:pPr marL="0" indent="0">
              <a:buNone/>
            </a:pPr>
            <a:r>
              <a:rPr lang="en-IN" sz="2400" dirty="0"/>
              <a:t>STEP 1 :- Boot up your VM and kali </a:t>
            </a:r>
            <a:endParaRPr lang="en-IN" sz="2400" dirty="0"/>
          </a:p>
        </p:txBody>
      </p:sp>
      <p:pic>
        <p:nvPicPr>
          <p:cNvPr id="3" name="Content Placeholder 2" descr="Screenshot (248)"/>
          <p:cNvPicPr>
            <a:picLocks noChangeAspect="1"/>
          </p:cNvPicPr>
          <p:nvPr>
            <p:ph sz="half" idx="2"/>
          </p:nvPr>
        </p:nvPicPr>
        <p:blipFill>
          <a:blip r:embed="rId1"/>
          <a:srcRect l="15855" r="15855"/>
          <a:stretch>
            <a:fillRect/>
          </a:stretch>
        </p:blipFill>
        <p:spPr>
          <a:xfrm>
            <a:off x="679450" y="1306830"/>
            <a:ext cx="10664825" cy="40271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descr="Screenshot (250)"/>
          <p:cNvPicPr>
            <a:picLocks noChangeAspect="1"/>
          </p:cNvPicPr>
          <p:nvPr>
            <p:ph sz="half" idx="1"/>
          </p:nvPr>
        </p:nvPicPr>
        <p:blipFill>
          <a:blip r:embed="rId1"/>
          <a:stretch>
            <a:fillRect/>
          </a:stretch>
        </p:blipFill>
        <p:spPr>
          <a:xfrm>
            <a:off x="478155" y="728345"/>
            <a:ext cx="10885170" cy="4150995"/>
          </a:xfrm>
          <a:prstGeom prst="rect">
            <a:avLst/>
          </a:prstGeom>
        </p:spPr>
      </p:pic>
      <p:sp>
        <p:nvSpPr>
          <p:cNvPr id="9" name="Content Placeholder 1"/>
          <p:cNvSpPr>
            <a:spLocks noGrp="1"/>
          </p:cNvSpPr>
          <p:nvPr/>
        </p:nvSpPr>
        <p:spPr>
          <a:xfrm>
            <a:off x="679450" y="5631180"/>
            <a:ext cx="10369550" cy="537845"/>
          </a:xfrm>
          <a:prstGeom prst="rect">
            <a:avLst/>
          </a:prstGeom>
        </p:spPr>
        <p:txBody>
          <a:bodyPr vert="horz" lIns="0" tIns="0" rIns="0" bIns="0" numCol="2"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dirty="0"/>
              <a:t>STEP 2 :-Start DVWA website in mozilla browser (victims’s browser).</a:t>
            </a:r>
            <a:endParaRPr lang="en-IN"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a:xfrm>
            <a:off x="542994" y="4737516"/>
            <a:ext cx="10834234" cy="612775"/>
          </a:xfrm>
        </p:spPr>
        <p:txBody>
          <a:bodyPr>
            <a:normAutofit/>
          </a:bodyPr>
          <a:p>
            <a:r>
              <a:rPr lang="en-IN" altLang="en-US"/>
              <a:t> </a:t>
            </a:r>
            <a:endParaRPr lang="en-IN" altLang="en-US"/>
          </a:p>
        </p:txBody>
      </p:sp>
      <p:pic>
        <p:nvPicPr>
          <p:cNvPr id="6" name="Content Placeholder 5" descr="Screenshot (251)"/>
          <p:cNvPicPr>
            <a:picLocks noChangeAspect="1"/>
          </p:cNvPicPr>
          <p:nvPr>
            <p:ph idx="1"/>
          </p:nvPr>
        </p:nvPicPr>
        <p:blipFill>
          <a:blip r:embed="rId1"/>
          <a:srcRect t="13917" b="13917"/>
          <a:stretch>
            <a:fillRect/>
          </a:stretch>
        </p:blipFill>
        <p:spPr>
          <a:xfrm>
            <a:off x="678815" y="806450"/>
            <a:ext cx="10562590" cy="3281680"/>
          </a:xfrm>
          <a:prstGeom prst="rect">
            <a:avLst/>
          </a:prstGeom>
        </p:spPr>
      </p:pic>
      <p:sp>
        <p:nvSpPr>
          <p:cNvPr id="8" name="Text Box 7"/>
          <p:cNvSpPr txBox="1"/>
          <p:nvPr/>
        </p:nvSpPr>
        <p:spPr>
          <a:xfrm>
            <a:off x="678815" y="4587240"/>
            <a:ext cx="10562590" cy="1753235"/>
          </a:xfrm>
          <a:prstGeom prst="rect">
            <a:avLst/>
          </a:prstGeom>
          <a:noFill/>
        </p:spPr>
        <p:txBody>
          <a:bodyPr wrap="square" rtlCol="0">
            <a:spAutoFit/>
          </a:bodyPr>
          <a:p>
            <a:r>
              <a:rPr lang="en-IN" altLang="en-US" sz="2400">
                <a:sym typeface="+mn-ea"/>
              </a:rPr>
              <a:t>Step 3:- Login to DVWA website using the credentials </a:t>
            </a:r>
            <a:br>
              <a:rPr lang="en-IN" altLang="en-US" sz="2400">
                <a:sym typeface="+mn-ea"/>
              </a:rPr>
            </a:br>
            <a:r>
              <a:rPr lang="en-IN" altLang="en-US" sz="2400">
                <a:sym typeface="+mn-ea"/>
              </a:rPr>
              <a:t>Username - admin</a:t>
            </a:r>
            <a:endParaRPr lang="en-IN" altLang="en-US" sz="2400">
              <a:sym typeface="+mn-ea"/>
            </a:endParaRPr>
          </a:p>
          <a:p>
            <a:r>
              <a:rPr lang="en-IN" altLang="en-US" sz="2400">
                <a:sym typeface="+mn-ea"/>
              </a:rPr>
              <a:t>Password -password</a:t>
            </a:r>
            <a:br>
              <a:rPr lang="en-IN" altLang="en-US">
                <a:sym typeface="+mn-ea"/>
              </a:rPr>
            </a:br>
            <a:endParaRPr lang="en-IN" altLang="en-US"/>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52)"/>
          <p:cNvPicPr>
            <a:picLocks noChangeAspect="1"/>
          </p:cNvPicPr>
          <p:nvPr>
            <p:ph idx="1"/>
          </p:nvPr>
        </p:nvPicPr>
        <p:blipFill>
          <a:blip r:embed="rId1"/>
          <a:stretch>
            <a:fillRect/>
          </a:stretch>
        </p:blipFill>
        <p:spPr>
          <a:xfrm>
            <a:off x="672465" y="440055"/>
            <a:ext cx="10561955" cy="4257675"/>
          </a:xfrm>
          <a:prstGeom prst="rect">
            <a:avLst/>
          </a:prstGeom>
        </p:spPr>
      </p:pic>
      <p:sp>
        <p:nvSpPr>
          <p:cNvPr id="5" name="Text Box 4"/>
          <p:cNvSpPr txBox="1"/>
          <p:nvPr/>
        </p:nvSpPr>
        <p:spPr>
          <a:xfrm>
            <a:off x="673100" y="5103495"/>
            <a:ext cx="10561320" cy="542925"/>
          </a:xfrm>
          <a:prstGeom prst="rect">
            <a:avLst/>
          </a:prstGeom>
          <a:noFill/>
        </p:spPr>
        <p:txBody>
          <a:bodyPr wrap="square" rtlCol="0">
            <a:noAutofit/>
          </a:bodyPr>
          <a:p>
            <a:r>
              <a:rPr lang="en-IN" altLang="en-US" sz="2400"/>
              <a:t>After Login this screen will be available on the browser.</a:t>
            </a:r>
            <a:endParaRPr lang="en-IN"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a:xfrm>
            <a:off x="929709" y="5325526"/>
            <a:ext cx="10834234" cy="612775"/>
          </a:xfrm>
        </p:spPr>
        <p:txBody>
          <a:bodyPr/>
          <a:p>
            <a:r>
              <a:rPr lang="en-IN" altLang="en-US" sz="2400" b="0"/>
              <a:t>Step 4:- Set the DVWA security level to low.</a:t>
            </a:r>
            <a:endParaRPr lang="en-IN" altLang="en-US" sz="2400" b="0"/>
          </a:p>
        </p:txBody>
      </p:sp>
      <p:pic>
        <p:nvPicPr>
          <p:cNvPr id="6" name="Content Placeholder 5" descr="Screenshot (253)"/>
          <p:cNvPicPr>
            <a:picLocks noChangeAspect="1"/>
          </p:cNvPicPr>
          <p:nvPr>
            <p:ph idx="1"/>
          </p:nvPr>
        </p:nvPicPr>
        <p:blipFill>
          <a:blip r:embed="rId1"/>
          <a:srcRect t="13917" b="13917"/>
          <a:stretch>
            <a:fillRect/>
          </a:stretch>
        </p:blipFill>
        <p:spPr>
          <a:xfrm>
            <a:off x="678180" y="564515"/>
            <a:ext cx="10834370" cy="4488815"/>
          </a:xfrm>
          <a:prstGeom prst="rect">
            <a:avLst/>
          </a:prstGeom>
        </p:spPr>
      </p:pic>
      <p:sp>
        <p:nvSpPr>
          <p:cNvPr id="9" name="Right Arrow 8"/>
          <p:cNvSpPr/>
          <p:nvPr/>
        </p:nvSpPr>
        <p:spPr>
          <a:xfrm rot="14100000">
            <a:off x="4960620" y="4481830"/>
            <a:ext cx="979170" cy="146685"/>
          </a:xfrm>
          <a:prstGeom prst="rightArrow">
            <a:avLst/>
          </a:prstGeom>
          <a:gradFill>
            <a:gsLst>
              <a:gs pos="50000">
                <a:schemeClr val="accent3"/>
              </a:gs>
              <a:gs pos="0">
                <a:schemeClr val="accent3">
                  <a:lumMod val="25000"/>
                  <a:lumOff val="75000"/>
                </a:schemeClr>
              </a:gs>
              <a:gs pos="100000">
                <a:schemeClr val="accent3">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54)"/>
          <p:cNvPicPr>
            <a:picLocks noChangeAspect="1"/>
          </p:cNvPicPr>
          <p:nvPr>
            <p:ph idx="1"/>
          </p:nvPr>
        </p:nvPicPr>
        <p:blipFill>
          <a:blip r:embed="rId1"/>
          <a:srcRect t="13917" b="13917"/>
          <a:stretch>
            <a:fillRect/>
          </a:stretch>
        </p:blipFill>
        <p:spPr>
          <a:xfrm>
            <a:off x="678815" y="578485"/>
            <a:ext cx="10834370" cy="4398010"/>
          </a:xfrm>
          <a:prstGeom prst="rect">
            <a:avLst/>
          </a:prstGeom>
        </p:spPr>
      </p:pic>
      <p:sp>
        <p:nvSpPr>
          <p:cNvPr id="6" name="Title 5"/>
          <p:cNvSpPr>
            <a:spLocks noGrp="1"/>
          </p:cNvSpPr>
          <p:nvPr>
            <p:ph type="title"/>
          </p:nvPr>
        </p:nvSpPr>
        <p:spPr>
          <a:xfrm>
            <a:off x="678884" y="5399186"/>
            <a:ext cx="10834234" cy="612775"/>
          </a:xfrm>
        </p:spPr>
        <p:txBody>
          <a:bodyPr/>
          <a:p>
            <a:r>
              <a:rPr lang="en-IN" altLang="en-US" sz="2400" b="0"/>
              <a:t>Step 5:- Next right click and select inspect(Q) or press F12.</a:t>
            </a:r>
            <a:endParaRPr lang="en-IN" altLang="en-US" sz="2400" b="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55)"/>
          <p:cNvPicPr>
            <a:picLocks noChangeAspect="1"/>
          </p:cNvPicPr>
          <p:nvPr>
            <p:ph idx="1"/>
          </p:nvPr>
        </p:nvPicPr>
        <p:blipFill>
          <a:blip r:embed="rId1"/>
          <a:srcRect t="13917" b="13917"/>
          <a:stretch>
            <a:fillRect/>
          </a:stretch>
        </p:blipFill>
        <p:spPr>
          <a:xfrm>
            <a:off x="678815" y="606425"/>
            <a:ext cx="10834370" cy="4398010"/>
          </a:xfrm>
          <a:prstGeom prst="rect">
            <a:avLst/>
          </a:prstGeom>
        </p:spPr>
      </p:pic>
      <p:sp>
        <p:nvSpPr>
          <p:cNvPr id="6" name="Title 5"/>
          <p:cNvSpPr>
            <a:spLocks noGrp="1"/>
          </p:cNvSpPr>
          <p:nvPr>
            <p:ph type="title"/>
          </p:nvPr>
        </p:nvSpPr>
        <p:spPr>
          <a:xfrm>
            <a:off x="678884" y="5278536"/>
            <a:ext cx="10834234" cy="612775"/>
          </a:xfrm>
        </p:spPr>
        <p:txBody>
          <a:bodyPr/>
          <a:p>
            <a:r>
              <a:rPr lang="en-IN" altLang="en-US" sz="2400" b="0"/>
              <a:t>Step 6:- Once the dev mode pops up, click the storage menu to access cookies.</a:t>
            </a:r>
            <a:endParaRPr lang="en-IN" altLang="en-US" sz="2400" b="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865574" y="5213131"/>
            <a:ext cx="10834234" cy="612775"/>
          </a:xfrm>
        </p:spPr>
        <p:txBody>
          <a:bodyPr>
            <a:normAutofit fontScale="90000"/>
          </a:bodyPr>
          <a:p>
            <a:r>
              <a:rPr lang="en-IN" altLang="en-US" sz="2665" b="0"/>
              <a:t>Step 7:- Click on the</a:t>
            </a:r>
            <a:r>
              <a:rPr lang="en-IN" altLang="en-US" sz="2665"/>
              <a:t> http://localhost</a:t>
            </a:r>
            <a:r>
              <a:rPr lang="en-IN" altLang="en-US" sz="2665" b="0"/>
              <a:t> to find your session ID. and copy that value from </a:t>
            </a:r>
            <a:br>
              <a:rPr lang="en-IN" altLang="en-US" sz="2665" b="0"/>
            </a:br>
            <a:r>
              <a:rPr lang="en-IN" altLang="en-US" sz="2665" b="0"/>
              <a:t>               victims browser.</a:t>
            </a:r>
            <a:endParaRPr lang="en-IN" altLang="en-US" sz="2665" b="0"/>
          </a:p>
        </p:txBody>
      </p:sp>
      <p:pic>
        <p:nvPicPr>
          <p:cNvPr id="4" name="Content Placeholder 3" descr="Screenshot (256)"/>
          <p:cNvPicPr>
            <a:picLocks noChangeAspect="1"/>
          </p:cNvPicPr>
          <p:nvPr>
            <p:ph idx="1"/>
          </p:nvPr>
        </p:nvPicPr>
        <p:blipFill>
          <a:blip r:embed="rId1"/>
          <a:srcRect t="13917" b="13917"/>
          <a:stretch>
            <a:fillRect/>
          </a:stretch>
        </p:blipFill>
        <p:spPr>
          <a:xfrm>
            <a:off x="678815" y="584835"/>
            <a:ext cx="10834370" cy="4398010"/>
          </a:xfrm>
          <a:prstGeom prst="rect">
            <a:avLst/>
          </a:prstGeom>
        </p:spPr>
      </p:pic>
      <p:sp>
        <p:nvSpPr>
          <p:cNvPr id="9" name="Right Arrow 8"/>
          <p:cNvSpPr/>
          <p:nvPr/>
        </p:nvSpPr>
        <p:spPr>
          <a:xfrm rot="14100000">
            <a:off x="3285490" y="4777740"/>
            <a:ext cx="979170" cy="146685"/>
          </a:xfrm>
          <a:prstGeom prst="rightArrow">
            <a:avLst/>
          </a:prstGeom>
          <a:gradFill>
            <a:gsLst>
              <a:gs pos="50000">
                <a:schemeClr val="accent3"/>
              </a:gs>
              <a:gs pos="0">
                <a:schemeClr val="accent3">
                  <a:lumMod val="25000"/>
                  <a:lumOff val="75000"/>
                </a:schemeClr>
              </a:gs>
              <a:gs pos="100000">
                <a:schemeClr val="accent3">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8884" y="5387756"/>
            <a:ext cx="10834234" cy="612775"/>
          </a:xfrm>
        </p:spPr>
        <p:txBody>
          <a:bodyPr>
            <a:normAutofit fontScale="90000"/>
          </a:bodyPr>
          <a:p>
            <a:r>
              <a:rPr lang="en-IN" altLang="en-US" sz="2665" b="0"/>
              <a:t>Step 8:- Now open DVWA website on other browser i.e. of (Attackers). </a:t>
            </a:r>
            <a:br>
              <a:rPr lang="en-IN" altLang="en-US" sz="2665" b="0"/>
            </a:br>
            <a:r>
              <a:rPr lang="en-IN" altLang="en-US" sz="2665" b="0"/>
              <a:t>               Bootup your burp suite and open the </a:t>
            </a:r>
            <a:r>
              <a:rPr lang="en-IN" altLang="en-US" sz="2665" b="0">
                <a:sym typeface="+mn-ea"/>
              </a:rPr>
              <a:t> burp suite </a:t>
            </a:r>
            <a:r>
              <a:rPr lang="en-IN" altLang="en-US" sz="2665" b="0"/>
              <a:t>bowser. </a:t>
            </a:r>
            <a:endParaRPr lang="en-IN" altLang="en-US" sz="2665" b="0"/>
          </a:p>
        </p:txBody>
      </p:sp>
      <p:pic>
        <p:nvPicPr>
          <p:cNvPr id="4" name="Content Placeholder 3" descr="Screenshot (257)"/>
          <p:cNvPicPr>
            <a:picLocks noChangeAspect="1"/>
          </p:cNvPicPr>
          <p:nvPr>
            <p:ph idx="1"/>
          </p:nvPr>
        </p:nvPicPr>
        <p:blipFill>
          <a:blip r:embed="rId1"/>
          <a:stretch>
            <a:fillRect/>
          </a:stretch>
        </p:blipFill>
        <p:spPr>
          <a:xfrm>
            <a:off x="678180" y="617220"/>
            <a:ext cx="10835005" cy="439801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678815" y="5252720"/>
            <a:ext cx="10834370" cy="925195"/>
          </a:xfrm>
        </p:spPr>
        <p:txBody>
          <a:bodyPr>
            <a:normAutofit fontScale="90000"/>
          </a:bodyPr>
          <a:p>
            <a:pPr algn="l"/>
            <a:r>
              <a:rPr lang="en-IN" altLang="en-US" sz="2665" b="0"/>
              <a:t>Step 9:- </a:t>
            </a:r>
            <a:r>
              <a:rPr lang="en-IN" altLang="en-US" sz="2665" b="0">
                <a:sym typeface="+mn-ea"/>
              </a:rPr>
              <a:t>Now open DVWA website on other browser i.e. of (Attackers). Bootup your burp suite and open the </a:t>
            </a:r>
            <a:r>
              <a:rPr lang="en-IN" altLang="en-US" sz="2665" b="0">
                <a:sym typeface="+mn-ea"/>
              </a:rPr>
              <a:t> burp suite bowser. </a:t>
            </a:r>
            <a:r>
              <a:rPr lang="en-IN" altLang="en-US" sz="2665" b="0"/>
              <a:t>Now login to DVWA on the            </a:t>
            </a:r>
            <a:br>
              <a:rPr lang="en-IN" altLang="en-US" sz="2665" b="0"/>
            </a:br>
            <a:r>
              <a:rPr lang="en-IN" altLang="en-US" sz="2665" b="0"/>
              <a:t>burp suite browser.</a:t>
            </a:r>
            <a:endParaRPr lang="en-IN" altLang="en-US" sz="2665" b="0"/>
          </a:p>
        </p:txBody>
      </p:sp>
      <p:pic>
        <p:nvPicPr>
          <p:cNvPr id="4" name="Content Placeholder 3" descr="Screenshot (259)"/>
          <p:cNvPicPr>
            <a:picLocks noChangeAspect="1"/>
          </p:cNvPicPr>
          <p:nvPr>
            <p:ph idx="1"/>
          </p:nvPr>
        </p:nvPicPr>
        <p:blipFill>
          <a:blip r:embed="rId1"/>
          <a:srcRect t="13917" b="13917"/>
          <a:stretch>
            <a:fillRect/>
          </a:stretch>
        </p:blipFill>
        <p:spPr>
          <a:xfrm>
            <a:off x="678815" y="474345"/>
            <a:ext cx="10834370" cy="46259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678884" y="5255041"/>
            <a:ext cx="10834234" cy="612775"/>
          </a:xfrm>
        </p:spPr>
        <p:txBody>
          <a:bodyPr/>
          <a:p>
            <a:r>
              <a:rPr lang="en-IN" altLang="en-US" sz="2400" b="0"/>
              <a:t>Step 10:- Now you will find the DVWA login page. Before login press Function</a:t>
            </a:r>
            <a:r>
              <a:rPr lang="en-IN" altLang="en-US" sz="2400"/>
              <a:t> Key+F12 </a:t>
            </a:r>
            <a:endParaRPr lang="en-IN" altLang="en-US" sz="2400"/>
          </a:p>
        </p:txBody>
      </p:sp>
      <p:pic>
        <p:nvPicPr>
          <p:cNvPr id="4" name="Content Placeholder 3" descr="Screenshot (260)"/>
          <p:cNvPicPr>
            <a:picLocks noChangeAspect="1"/>
          </p:cNvPicPr>
          <p:nvPr>
            <p:ph idx="1"/>
          </p:nvPr>
        </p:nvPicPr>
        <p:blipFill>
          <a:blip r:embed="rId1"/>
          <a:srcRect t="13917" b="13917"/>
          <a:stretch>
            <a:fillRect/>
          </a:stretch>
        </p:blipFill>
        <p:spPr>
          <a:xfrm>
            <a:off x="678815" y="574040"/>
            <a:ext cx="10834370" cy="43980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678884" y="5366166"/>
            <a:ext cx="10834234" cy="612775"/>
          </a:xfrm>
        </p:spPr>
        <p:txBody>
          <a:bodyPr/>
          <a:p>
            <a:r>
              <a:rPr lang="en-IN" altLang="en-US" sz="2400" b="0"/>
              <a:t>Step 11:- Now acess the dev mode and find the session ID on burp suite browser.</a:t>
            </a:r>
            <a:endParaRPr lang="en-IN" altLang="en-US" sz="2400" b="0"/>
          </a:p>
        </p:txBody>
      </p:sp>
      <p:pic>
        <p:nvPicPr>
          <p:cNvPr id="4" name="Content Placeholder 3" descr="Screenshot (261)"/>
          <p:cNvPicPr>
            <a:picLocks noChangeAspect="1"/>
          </p:cNvPicPr>
          <p:nvPr>
            <p:ph idx="1"/>
          </p:nvPr>
        </p:nvPicPr>
        <p:blipFill>
          <a:blip r:embed="rId1"/>
          <a:srcRect t="13917" b="13917"/>
          <a:stretch>
            <a:fillRect/>
          </a:stretch>
        </p:blipFill>
        <p:spPr>
          <a:xfrm>
            <a:off x="678815" y="617220"/>
            <a:ext cx="10834370" cy="439801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678884" y="5460146"/>
            <a:ext cx="10834234" cy="612775"/>
          </a:xfrm>
        </p:spPr>
        <p:txBody>
          <a:bodyPr/>
          <a:p>
            <a:r>
              <a:rPr lang="en-IN" altLang="en-US" sz="2400" b="0"/>
              <a:t>Remove the value given to phpsessid in attackers system.</a:t>
            </a:r>
            <a:endParaRPr lang="en-IN" altLang="en-US" sz="2400" b="0"/>
          </a:p>
        </p:txBody>
      </p:sp>
      <p:pic>
        <p:nvPicPr>
          <p:cNvPr id="4" name="Content Placeholder 3" descr="Screenshot (262)"/>
          <p:cNvPicPr>
            <a:picLocks noChangeAspect="1"/>
          </p:cNvPicPr>
          <p:nvPr>
            <p:ph idx="1"/>
          </p:nvPr>
        </p:nvPicPr>
        <p:blipFill>
          <a:blip r:embed="rId1"/>
          <a:srcRect t="13917" b="13917"/>
          <a:stretch>
            <a:fillRect/>
          </a:stretch>
        </p:blipFill>
        <p:spPr>
          <a:xfrm>
            <a:off x="678815" y="638810"/>
            <a:ext cx="10834370" cy="439801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Content Placeholder 6" descr="Screenshot (264)"/>
          <p:cNvPicPr>
            <a:picLocks noChangeAspect="1"/>
          </p:cNvPicPr>
          <p:nvPr>
            <p:ph idx="1"/>
          </p:nvPr>
        </p:nvPicPr>
        <p:blipFill>
          <a:blip r:embed="rId1"/>
          <a:srcRect t="13917" b="13917"/>
          <a:stretch>
            <a:fillRect/>
          </a:stretch>
        </p:blipFill>
        <p:spPr>
          <a:xfrm>
            <a:off x="678815" y="812165"/>
            <a:ext cx="10834370" cy="50088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678884" y="5328701"/>
            <a:ext cx="10834234" cy="612775"/>
          </a:xfrm>
        </p:spPr>
        <p:txBody>
          <a:bodyPr>
            <a:normAutofit/>
          </a:bodyPr>
          <a:p>
            <a:r>
              <a:rPr lang="en-IN" altLang="en-US" sz="2400" b="0"/>
              <a:t>Step 11:- Replace the PHPSESSID or  session ID of attackers with  </a:t>
            </a:r>
            <a:r>
              <a:rPr lang="en-IN" altLang="en-US" sz="2400" b="0">
                <a:sym typeface="+mn-ea"/>
              </a:rPr>
              <a:t>victim session ID. </a:t>
            </a:r>
            <a:endParaRPr lang="en-IN" altLang="en-US" sz="2400" b="0">
              <a:sym typeface="+mn-ea"/>
            </a:endParaRPr>
          </a:p>
        </p:txBody>
      </p:sp>
      <p:pic>
        <p:nvPicPr>
          <p:cNvPr id="4" name="Content Placeholder 3" descr="Screenshot (265)"/>
          <p:cNvPicPr>
            <a:picLocks noChangeAspect="1"/>
          </p:cNvPicPr>
          <p:nvPr>
            <p:ph idx="1"/>
          </p:nvPr>
        </p:nvPicPr>
        <p:blipFill>
          <a:blip r:embed="rId1"/>
          <a:srcRect t="13917" b="13917"/>
          <a:stretch>
            <a:fillRect/>
          </a:stretch>
        </p:blipFill>
        <p:spPr>
          <a:xfrm>
            <a:off x="678815" y="606425"/>
            <a:ext cx="10834370" cy="439801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678884" y="5385216"/>
            <a:ext cx="10834234" cy="612775"/>
          </a:xfrm>
        </p:spPr>
        <p:txBody>
          <a:bodyPr>
            <a:normAutofit fontScale="90000"/>
          </a:bodyPr>
          <a:p>
            <a:r>
              <a:rPr lang="en-IN" altLang="en-US" sz="2665" b="0"/>
              <a:t>Step 12:- In attackers browser remove the login.php and only use as shown in the browser Refersh the DVWA login page.</a:t>
            </a:r>
            <a:endParaRPr lang="en-IN" altLang="en-US" sz="2665" b="0"/>
          </a:p>
        </p:txBody>
      </p:sp>
      <p:pic>
        <p:nvPicPr>
          <p:cNvPr id="4" name="Content Placeholder 3" descr="Screenshot (266)"/>
          <p:cNvPicPr>
            <a:picLocks noChangeAspect="1"/>
          </p:cNvPicPr>
          <p:nvPr>
            <p:ph idx="1"/>
          </p:nvPr>
        </p:nvPicPr>
        <p:blipFill>
          <a:blip r:embed="rId1"/>
          <a:srcRect t="13917" b="13917"/>
          <a:stretch>
            <a:fillRect/>
          </a:stretch>
        </p:blipFill>
        <p:spPr>
          <a:xfrm>
            <a:off x="678815" y="618490"/>
            <a:ext cx="10834370" cy="439801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xfrm>
            <a:off x="678884" y="5460146"/>
            <a:ext cx="10834234" cy="612775"/>
          </a:xfrm>
        </p:spPr>
        <p:txBody>
          <a:bodyPr>
            <a:normAutofit fontScale="90000"/>
          </a:bodyPr>
          <a:p>
            <a:pPr algn="l"/>
            <a:r>
              <a:rPr lang="en-IN" altLang="en-US" sz="2665" b="0"/>
              <a:t>Step 13:- The DVWA sucessfully logged in. In attackers browser we are loggin with victims credentials by replacing the phpsessid value.</a:t>
            </a:r>
            <a:endParaRPr lang="en-IN" altLang="en-US" sz="2665" b="0"/>
          </a:p>
        </p:txBody>
      </p:sp>
      <p:pic>
        <p:nvPicPr>
          <p:cNvPr id="4" name="Content Placeholder 3" descr="Screenshot (267)"/>
          <p:cNvPicPr>
            <a:picLocks noChangeAspect="1"/>
          </p:cNvPicPr>
          <p:nvPr>
            <p:ph idx="1"/>
          </p:nvPr>
        </p:nvPicPr>
        <p:blipFill>
          <a:blip r:embed="rId1"/>
          <a:srcRect t="13917" b="13917"/>
          <a:stretch>
            <a:fillRect/>
          </a:stretch>
        </p:blipFill>
        <p:spPr>
          <a:xfrm>
            <a:off x="678815" y="688340"/>
            <a:ext cx="10834370" cy="44399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Screenshot (268)"/>
          <p:cNvPicPr>
            <a:picLocks noChangeAspect="1"/>
          </p:cNvPicPr>
          <p:nvPr>
            <p:ph idx="1"/>
          </p:nvPr>
        </p:nvPicPr>
        <p:blipFill>
          <a:blip r:embed="rId1"/>
          <a:srcRect t="13917" b="13917"/>
          <a:stretch>
            <a:fillRect/>
          </a:stretch>
        </p:blipFill>
        <p:spPr>
          <a:xfrm>
            <a:off x="678815" y="668020"/>
            <a:ext cx="10834370" cy="49256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180" y="299085"/>
            <a:ext cx="10834370" cy="894715"/>
          </a:xfrm>
        </p:spPr>
        <p:txBody>
          <a:bodyPr>
            <a:normAutofit/>
          </a:bodyPr>
          <a:p>
            <a:pPr marL="0" indent="0" algn="l">
              <a:buNone/>
            </a:pPr>
            <a:r>
              <a:rPr lang="en-IN" altLang="en-US" sz="3400" b="1" dirty="0">
                <a:solidFill>
                  <a:srgbClr val="C00000"/>
                </a:solidFill>
                <a:sym typeface="+mn-ea"/>
              </a:rPr>
              <a:t>Proof of concept (POC)  OWASP JUICE SHOP</a:t>
            </a:r>
            <a:endParaRPr lang="en-IN" altLang="en-US" sz="3400" b="1" dirty="0">
              <a:solidFill>
                <a:srgbClr val="C00000"/>
              </a:solidFill>
              <a:sym typeface="+mn-ea"/>
            </a:endParaRPr>
          </a:p>
        </p:txBody>
      </p:sp>
      <p:pic>
        <p:nvPicPr>
          <p:cNvPr id="4" name="Picture 3" descr="1"/>
          <p:cNvPicPr>
            <a:picLocks noChangeAspect="1"/>
          </p:cNvPicPr>
          <p:nvPr/>
        </p:nvPicPr>
        <p:blipFill>
          <a:blip r:embed="rId1"/>
          <a:stretch>
            <a:fillRect/>
          </a:stretch>
        </p:blipFill>
        <p:spPr>
          <a:xfrm>
            <a:off x="678815" y="1193800"/>
            <a:ext cx="10833735" cy="4032885"/>
          </a:xfrm>
          <a:prstGeom prst="rect">
            <a:avLst/>
          </a:prstGeom>
        </p:spPr>
      </p:pic>
      <p:sp>
        <p:nvSpPr>
          <p:cNvPr id="5" name="Text Box 4"/>
          <p:cNvSpPr txBox="1"/>
          <p:nvPr/>
        </p:nvSpPr>
        <p:spPr>
          <a:xfrm>
            <a:off x="774065" y="5322570"/>
            <a:ext cx="10834370" cy="829945"/>
          </a:xfrm>
          <a:prstGeom prst="rect">
            <a:avLst/>
          </a:prstGeom>
          <a:noFill/>
        </p:spPr>
        <p:txBody>
          <a:bodyPr wrap="square" rtlCol="0" anchor="t">
            <a:spAutoFit/>
          </a:bodyPr>
          <a:p>
            <a:pPr marL="0" indent="0" algn="l">
              <a:buNone/>
            </a:pPr>
            <a:r>
              <a:rPr lang="en-IN" sz="2400" dirty="0">
                <a:sym typeface="+mn-ea"/>
              </a:rPr>
              <a:t>STEP </a:t>
            </a:r>
            <a:r>
              <a:rPr lang="en-US" altLang="en-IN" sz="2400" dirty="0">
                <a:sym typeface="+mn-ea"/>
              </a:rPr>
              <a:t>1</a:t>
            </a:r>
            <a:r>
              <a:rPr lang="en-IN" sz="2400" dirty="0">
                <a:sym typeface="+mn-ea"/>
              </a:rPr>
              <a:t> :-Start </a:t>
            </a:r>
            <a:r>
              <a:rPr lang="en-US" altLang="en-IN" sz="2400" dirty="0">
                <a:sym typeface="+mn-ea"/>
              </a:rPr>
              <a:t>owasp juice shop using </a:t>
            </a:r>
            <a:r>
              <a:rPr lang="en-US" altLang="en-IN" sz="2400" b="1" dirty="0">
                <a:sym typeface="+mn-ea"/>
              </a:rPr>
              <a:t>DOCKER </a:t>
            </a:r>
            <a:r>
              <a:rPr lang="en-US" altLang="en-IN" sz="2400" dirty="0">
                <a:sym typeface="+mn-ea"/>
              </a:rPr>
              <a:t>.After it starts, open</a:t>
            </a:r>
            <a:r>
              <a:rPr lang="en-IN" sz="2400" dirty="0">
                <a:sym typeface="+mn-ea"/>
              </a:rPr>
              <a:t> </a:t>
            </a:r>
            <a:r>
              <a:rPr lang="en-US" altLang="en-IN" sz="2400" dirty="0">
                <a:sym typeface="+mn-ea"/>
              </a:rPr>
              <a:t>the</a:t>
            </a:r>
            <a:r>
              <a:rPr lang="en-IN" sz="2400" dirty="0">
                <a:sym typeface="+mn-ea"/>
              </a:rPr>
              <a:t> mozilla </a:t>
            </a:r>
            <a:r>
              <a:rPr lang="en-US" altLang="en-IN" sz="2400" dirty="0">
                <a:sym typeface="+mn-ea"/>
              </a:rPr>
              <a:t>         </a:t>
            </a:r>
            <a:r>
              <a:rPr lang="en-IN" sz="2400" dirty="0">
                <a:sym typeface="+mn-ea"/>
              </a:rPr>
              <a:t>browser</a:t>
            </a:r>
            <a:r>
              <a:rPr lang="en-US" altLang="en-IN" sz="2400" dirty="0">
                <a:sym typeface="+mn-ea"/>
              </a:rPr>
              <a:t> and go to: </a:t>
            </a:r>
            <a:r>
              <a:rPr lang="en-US" altLang="en-US" sz="2400" b="1" dirty="0">
                <a:sym typeface="+mn-ea"/>
              </a:rPr>
              <a:t>http://127.0.0.1:3000</a:t>
            </a:r>
            <a:r>
              <a:rPr lang="en-IN" sz="2400" dirty="0">
                <a:sym typeface="+mn-ea"/>
              </a:rPr>
              <a:t>. (victims’s browser)</a:t>
            </a:r>
            <a:endParaRPr lang="en-IN" sz="2400" dirty="0">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2"/>
          <p:cNvPicPr>
            <a:picLocks noChangeAspect="1"/>
          </p:cNvPicPr>
          <p:nvPr/>
        </p:nvPicPr>
        <p:blipFill>
          <a:blip r:embed="rId1"/>
          <a:stretch>
            <a:fillRect/>
          </a:stretch>
        </p:blipFill>
        <p:spPr>
          <a:xfrm>
            <a:off x="678815" y="643890"/>
            <a:ext cx="10833735" cy="4351655"/>
          </a:xfrm>
          <a:prstGeom prst="rect">
            <a:avLst/>
          </a:prstGeom>
        </p:spPr>
      </p:pic>
      <p:sp>
        <p:nvSpPr>
          <p:cNvPr id="9" name="Right Arrow 8"/>
          <p:cNvSpPr/>
          <p:nvPr/>
        </p:nvSpPr>
        <p:spPr>
          <a:xfrm rot="18600000">
            <a:off x="1701165" y="1915795"/>
            <a:ext cx="979170" cy="146685"/>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 name="Text Box 1"/>
          <p:cNvSpPr txBox="1"/>
          <p:nvPr/>
        </p:nvSpPr>
        <p:spPr>
          <a:xfrm>
            <a:off x="678815" y="5323205"/>
            <a:ext cx="10441940" cy="631825"/>
          </a:xfrm>
          <a:prstGeom prst="rect">
            <a:avLst/>
          </a:prstGeom>
          <a:noFill/>
        </p:spPr>
        <p:txBody>
          <a:bodyPr wrap="square" rtlCol="0">
            <a:noAutofit/>
          </a:bodyPr>
          <a:p>
            <a:r>
              <a:rPr lang="en-IN" altLang="en-US" sz="2400">
                <a:sym typeface="+mn-ea"/>
              </a:rPr>
              <a:t>After </a:t>
            </a:r>
            <a:r>
              <a:rPr lang="en-US" altLang="en-IN" sz="2400">
                <a:sym typeface="+mn-ea"/>
              </a:rPr>
              <a:t>acessing the link shown .</a:t>
            </a:r>
            <a:r>
              <a:rPr lang="en-IN" altLang="en-US" sz="2400">
                <a:sym typeface="+mn-ea"/>
              </a:rPr>
              <a:t> </a:t>
            </a:r>
            <a:r>
              <a:rPr lang="en-US" altLang="en-IN" sz="2400">
                <a:sym typeface="+mn-ea"/>
              </a:rPr>
              <a:t>T</a:t>
            </a:r>
            <a:r>
              <a:rPr lang="en-IN" altLang="en-US" sz="2400">
                <a:sym typeface="+mn-ea"/>
              </a:rPr>
              <a:t>his screen will be available on the browser.</a:t>
            </a:r>
            <a:endParaRPr 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3"/>
          <p:cNvPicPr>
            <a:picLocks noChangeAspect="1"/>
          </p:cNvPicPr>
          <p:nvPr/>
        </p:nvPicPr>
        <p:blipFill>
          <a:blip r:embed="rId1"/>
          <a:stretch>
            <a:fillRect/>
          </a:stretch>
        </p:blipFill>
        <p:spPr>
          <a:xfrm>
            <a:off x="678815" y="486410"/>
            <a:ext cx="10834370" cy="4445635"/>
          </a:xfrm>
          <a:prstGeom prst="rect">
            <a:avLst/>
          </a:prstGeom>
        </p:spPr>
      </p:pic>
      <p:sp>
        <p:nvSpPr>
          <p:cNvPr id="6" name="Title 5"/>
          <p:cNvSpPr>
            <a:spLocks noGrp="1"/>
          </p:cNvSpPr>
          <p:nvPr>
            <p:ph type="title"/>
          </p:nvPr>
        </p:nvSpPr>
        <p:spPr>
          <a:xfrm>
            <a:off x="522674" y="5241071"/>
            <a:ext cx="10834234" cy="612775"/>
          </a:xfrm>
        </p:spPr>
        <p:txBody>
          <a:bodyPr>
            <a:normAutofit fontScale="90000"/>
          </a:bodyPr>
          <a:p>
            <a:pPr algn="l"/>
            <a:r>
              <a:rPr lang="en-IN" altLang="en-US" sz="2400" b="0"/>
              <a:t>Step </a:t>
            </a:r>
            <a:r>
              <a:rPr lang="en-US" altLang="en-IN" sz="2400" b="0"/>
              <a:t>2</a:t>
            </a:r>
            <a:r>
              <a:rPr lang="en-IN" altLang="en-US" sz="2400" b="0"/>
              <a:t>:- Next right click and select inspect(Q) or press F12.</a:t>
            </a:r>
            <a:r>
              <a:rPr lang="en-US" altLang="en-IN" sz="2400" b="0"/>
              <a:t> Then </a:t>
            </a:r>
            <a:r>
              <a:rPr lang="en-IN" altLang="en-US" sz="2400" b="0">
                <a:sym typeface="+mn-ea"/>
              </a:rPr>
              <a:t>Once the dev mode pops up, click the storage menu to access cookies.</a:t>
            </a:r>
            <a:r>
              <a:rPr lang="en-US" altLang="en-IN" sz="2400" b="0"/>
              <a:t> </a:t>
            </a:r>
            <a:endParaRPr lang="en-US" altLang="en-IN" sz="2400" b="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64540" y="5239385"/>
            <a:ext cx="10834370" cy="599440"/>
          </a:xfrm>
        </p:spPr>
        <p:txBody>
          <a:bodyPr>
            <a:normAutofit fontScale="25000"/>
          </a:bodyPr>
          <a:p>
            <a:pPr marL="0" indent="0" algn="l">
              <a:buNone/>
            </a:pPr>
            <a:r>
              <a:rPr lang="en-US" altLang="en-US" sz="9600"/>
              <a:t>Step3-:</a:t>
            </a:r>
            <a:r>
              <a:rPr lang="en-US" altLang="en-US" sz="9600"/>
              <a:t> Since the session ID is not visible on that page, we must log in to access it</a:t>
            </a:r>
            <a:r>
              <a:rPr lang="en-IN" altLang="en-US" sz="9600"/>
              <a:t>. </a:t>
            </a:r>
            <a:r>
              <a:rPr lang="en-US" altLang="en-US" sz="9600"/>
              <a:t>Look for the login option at the top right of the screen.</a:t>
            </a:r>
            <a:endParaRPr lang="en-US" altLang="en-US" sz="9600"/>
          </a:p>
        </p:txBody>
      </p:sp>
      <p:pic>
        <p:nvPicPr>
          <p:cNvPr id="4" name="Picture 3" descr="4"/>
          <p:cNvPicPr>
            <a:picLocks noChangeAspect="1"/>
          </p:cNvPicPr>
          <p:nvPr/>
        </p:nvPicPr>
        <p:blipFill>
          <a:blip r:embed="rId1"/>
          <a:stretch>
            <a:fillRect/>
          </a:stretch>
        </p:blipFill>
        <p:spPr>
          <a:xfrm>
            <a:off x="679450" y="402590"/>
            <a:ext cx="10834370" cy="455041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092065"/>
            <a:ext cx="10834370" cy="917575"/>
          </a:xfrm>
        </p:spPr>
        <p:txBody>
          <a:bodyPr>
            <a:noAutofit/>
          </a:bodyPr>
          <a:p>
            <a:pPr marL="0" indent="0">
              <a:buNone/>
            </a:pPr>
            <a:r>
              <a:rPr lang="en-IN" altLang="en-US" sz="2400"/>
              <a:t>Step4:- </a:t>
            </a:r>
            <a:r>
              <a:rPr lang="en-US" altLang="en-US" sz="2400"/>
              <a:t>Log in to the OWASP Juice Shop using the following credentials:</a:t>
            </a:r>
            <a:endParaRPr lang="en-US" altLang="en-US" sz="2400"/>
          </a:p>
          <a:p>
            <a:pPr marL="0" indent="0">
              <a:buNone/>
            </a:pPr>
            <a:r>
              <a:rPr lang="en-US" altLang="en-US" sz="2400"/>
              <a:t>Username: admin@juice-sh.op</a:t>
            </a:r>
            <a:r>
              <a:rPr lang="en-IN" altLang="en-US" sz="2400"/>
              <a:t>    </a:t>
            </a:r>
            <a:r>
              <a:rPr lang="en-US" altLang="en-US" sz="2400">
                <a:sym typeface="+mn-ea"/>
              </a:rPr>
              <a:t>Password: admin123</a:t>
            </a:r>
            <a:endParaRPr lang="en-US" altLang="en-US" sz="2400"/>
          </a:p>
          <a:p>
            <a:pPr marL="0" indent="0">
              <a:buNone/>
            </a:pPr>
            <a:endParaRPr lang="en-US" altLang="en-US" sz="2400"/>
          </a:p>
          <a:p>
            <a:pPr marL="0" indent="0">
              <a:buNone/>
            </a:pPr>
            <a:endParaRPr lang="en-US" altLang="en-US" sz="2400"/>
          </a:p>
        </p:txBody>
      </p:sp>
      <p:pic>
        <p:nvPicPr>
          <p:cNvPr id="4" name="Picture 3" descr="5"/>
          <p:cNvPicPr>
            <a:picLocks noChangeAspect="1"/>
          </p:cNvPicPr>
          <p:nvPr/>
        </p:nvPicPr>
        <p:blipFill>
          <a:blip r:embed="rId1"/>
          <a:stretch>
            <a:fillRect/>
          </a:stretch>
        </p:blipFill>
        <p:spPr>
          <a:xfrm>
            <a:off x="679450" y="400050"/>
            <a:ext cx="10833735" cy="454596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10835"/>
            <a:ext cx="10834370" cy="662305"/>
          </a:xfrm>
        </p:spPr>
        <p:txBody>
          <a:bodyPr>
            <a:noAutofit/>
          </a:bodyPr>
          <a:p>
            <a:pPr marL="0" indent="0">
              <a:buNone/>
            </a:pPr>
            <a:r>
              <a:rPr lang="en-IN" altLang="en-US" sz="2400"/>
              <a:t>Step5:- </a:t>
            </a:r>
            <a:r>
              <a:rPr lang="en-US" altLang="en-US" sz="2400"/>
              <a:t>Once you log in, you will be presented with a page similar to the one displayed above.</a:t>
            </a:r>
            <a:endParaRPr lang="en-US" altLang="en-US" sz="2400"/>
          </a:p>
        </p:txBody>
      </p:sp>
      <p:pic>
        <p:nvPicPr>
          <p:cNvPr id="4" name="Picture 3" descr="Screenshot (300)"/>
          <p:cNvPicPr>
            <a:picLocks noChangeAspect="1"/>
          </p:cNvPicPr>
          <p:nvPr/>
        </p:nvPicPr>
        <p:blipFill>
          <a:blip r:embed="rId1"/>
          <a:stretch>
            <a:fillRect/>
          </a:stretch>
        </p:blipFill>
        <p:spPr>
          <a:xfrm>
            <a:off x="678815" y="275590"/>
            <a:ext cx="10834370" cy="473011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356860"/>
            <a:ext cx="10834370" cy="640715"/>
          </a:xfrm>
        </p:spPr>
        <p:txBody>
          <a:bodyPr>
            <a:noAutofit/>
          </a:bodyPr>
          <a:p>
            <a:pPr marL="0" indent="0" algn="l">
              <a:buNone/>
            </a:pPr>
            <a:r>
              <a:rPr lang="en-IN" altLang="en-US" sz="2400"/>
              <a:t>Step6:- </a:t>
            </a:r>
            <a:r>
              <a:rPr lang="en-US" altLang="en-US" sz="2400"/>
              <a:t>Open the Developer Tools again, and you will now find a cookie that contains the Session ID (or PHPSESSID) as the token.</a:t>
            </a:r>
            <a:endParaRPr lang="en-US" altLang="en-US" sz="2400"/>
          </a:p>
        </p:txBody>
      </p:sp>
      <p:pic>
        <p:nvPicPr>
          <p:cNvPr id="4" name="Picture 3" descr="Screenshot (301)"/>
          <p:cNvPicPr>
            <a:picLocks noChangeAspect="1"/>
          </p:cNvPicPr>
          <p:nvPr/>
        </p:nvPicPr>
        <p:blipFill>
          <a:blip r:embed="rId1"/>
          <a:stretch>
            <a:fillRect/>
          </a:stretch>
        </p:blipFill>
        <p:spPr>
          <a:xfrm>
            <a:off x="678815" y="486410"/>
            <a:ext cx="10834370" cy="445579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29885"/>
            <a:ext cx="10834370" cy="535305"/>
          </a:xfrm>
        </p:spPr>
        <p:txBody>
          <a:bodyPr/>
          <a:p>
            <a:pPr marL="0" indent="0">
              <a:buNone/>
            </a:pPr>
            <a:r>
              <a:rPr lang="en-IN" altLang="en-US" sz="2400"/>
              <a:t>Step7:-</a:t>
            </a:r>
            <a:r>
              <a:rPr lang="en-US" altLang="en-US" sz="2400"/>
              <a:t>For better clarity, the Session ID has been highlighted.</a:t>
            </a:r>
            <a:endParaRPr lang="en-US" altLang="en-US" sz="2400"/>
          </a:p>
        </p:txBody>
      </p:sp>
      <p:pic>
        <p:nvPicPr>
          <p:cNvPr id="4" name="Picture 3" descr="Screenshot (302)"/>
          <p:cNvPicPr>
            <a:picLocks noChangeAspect="1"/>
          </p:cNvPicPr>
          <p:nvPr/>
        </p:nvPicPr>
        <p:blipFill>
          <a:blip r:embed="rId1"/>
          <a:stretch>
            <a:fillRect/>
          </a:stretch>
        </p:blipFill>
        <p:spPr>
          <a:xfrm>
            <a:off x="678815" y="348615"/>
            <a:ext cx="10833100" cy="453009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229860"/>
            <a:ext cx="10834370" cy="673100"/>
          </a:xfrm>
        </p:spPr>
        <p:txBody>
          <a:bodyPr>
            <a:noAutofit/>
          </a:bodyPr>
          <a:p>
            <a:pPr marL="0" indent="0">
              <a:buNone/>
            </a:pPr>
            <a:r>
              <a:rPr lang="en-IN" altLang="en-US" sz="2400"/>
              <a:t>Step8:-</a:t>
            </a:r>
            <a:r>
              <a:rPr lang="en-US" altLang="en-US" sz="2400"/>
              <a:t>You should now see the victim’s account. For better understanding, note that the username displayed is admin@juice-sh.op (sometimes shown as superuser).</a:t>
            </a:r>
            <a:endParaRPr lang="en-US" altLang="en-US" sz="2400"/>
          </a:p>
        </p:txBody>
      </p:sp>
      <p:pic>
        <p:nvPicPr>
          <p:cNvPr id="4" name="Picture 3" descr="Screenshot (303)"/>
          <p:cNvPicPr>
            <a:picLocks noChangeAspect="1"/>
          </p:cNvPicPr>
          <p:nvPr/>
        </p:nvPicPr>
        <p:blipFill>
          <a:blip r:embed="rId1"/>
          <a:stretch>
            <a:fillRect/>
          </a:stretch>
        </p:blipFill>
        <p:spPr>
          <a:xfrm>
            <a:off x="679450" y="328930"/>
            <a:ext cx="10833735" cy="44221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32425"/>
            <a:ext cx="10834370" cy="640715"/>
          </a:xfrm>
        </p:spPr>
        <p:txBody>
          <a:bodyPr/>
          <a:p>
            <a:pPr marL="0" indent="0">
              <a:buNone/>
            </a:pPr>
            <a:r>
              <a:rPr lang="en-IN" altLang="en-US" sz="2400"/>
              <a:t>Step9:-</a:t>
            </a:r>
            <a:r>
              <a:rPr lang="en-US" altLang="en-US" sz="2400"/>
              <a:t>Copy the Session ID (token) from the cookie.</a:t>
            </a:r>
            <a:endParaRPr lang="en-US" altLang="en-US" sz="2400"/>
          </a:p>
        </p:txBody>
      </p:sp>
      <p:pic>
        <p:nvPicPr>
          <p:cNvPr id="4" name="Picture 3" descr="Screenshot (304)"/>
          <p:cNvPicPr>
            <a:picLocks noChangeAspect="1"/>
          </p:cNvPicPr>
          <p:nvPr/>
        </p:nvPicPr>
        <p:blipFill>
          <a:blip r:embed="rId1"/>
          <a:stretch>
            <a:fillRect/>
          </a:stretch>
        </p:blipFill>
        <p:spPr>
          <a:xfrm>
            <a:off x="679450" y="295275"/>
            <a:ext cx="10834370" cy="450977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138420"/>
            <a:ext cx="10834370" cy="704215"/>
          </a:xfrm>
        </p:spPr>
        <p:txBody>
          <a:bodyPr>
            <a:noAutofit/>
          </a:bodyPr>
          <a:p>
            <a:pPr marL="0" indent="0" algn="l">
              <a:buNone/>
            </a:pPr>
            <a:r>
              <a:rPr lang="en-IN" altLang="en-US" sz="2400"/>
              <a:t>Step10:- </a:t>
            </a:r>
            <a:r>
              <a:rPr lang="en-US" altLang="en-US" sz="2400"/>
              <a:t>Open the OWASP Juice Shop in a different browser representing the attacker. In this demonstration, the attacker’s browser is Burp Suite’s browser.</a:t>
            </a:r>
            <a:endParaRPr lang="en-US" altLang="en-US" sz="2400"/>
          </a:p>
        </p:txBody>
      </p:sp>
      <p:pic>
        <p:nvPicPr>
          <p:cNvPr id="4" name="Picture 3" descr="Screenshot (305)"/>
          <p:cNvPicPr>
            <a:picLocks noChangeAspect="1"/>
          </p:cNvPicPr>
          <p:nvPr/>
        </p:nvPicPr>
        <p:blipFill>
          <a:blip r:embed="rId1"/>
          <a:stretch>
            <a:fillRect/>
          </a:stretch>
        </p:blipFill>
        <p:spPr>
          <a:xfrm>
            <a:off x="678815" y="476885"/>
            <a:ext cx="10834370" cy="42227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302885"/>
            <a:ext cx="10834370" cy="673100"/>
          </a:xfrm>
        </p:spPr>
        <p:txBody>
          <a:bodyPr>
            <a:noAutofit/>
          </a:bodyPr>
          <a:p>
            <a:pPr marL="0" indent="0" algn="l">
              <a:buNone/>
            </a:pPr>
            <a:r>
              <a:rPr lang="en-IN" altLang="en-US" sz="2400"/>
              <a:t>Step11</a:t>
            </a:r>
            <a:r>
              <a:rPr lang="en-IN" altLang="en-US" sz="2400" b="1"/>
              <a:t> </a:t>
            </a:r>
            <a:r>
              <a:rPr lang="en-IN" altLang="en-US" sz="2400"/>
              <a:t>:-</a:t>
            </a:r>
            <a:r>
              <a:rPr lang="en-US" altLang="en-US" sz="2400"/>
              <a:t>The attacker then authenticates to the OWASP Juice Shop using the following credentials: Username jim@juice-sh.op, Password ncc-17701.</a:t>
            </a:r>
            <a:endParaRPr lang="en-US" altLang="en-US" sz="2400"/>
          </a:p>
        </p:txBody>
      </p:sp>
      <p:pic>
        <p:nvPicPr>
          <p:cNvPr id="2" name="Picture 1" descr="Screenshot (307)"/>
          <p:cNvPicPr>
            <a:picLocks noChangeAspect="1"/>
          </p:cNvPicPr>
          <p:nvPr/>
        </p:nvPicPr>
        <p:blipFill>
          <a:blip r:embed="rId1"/>
          <a:stretch>
            <a:fillRect/>
          </a:stretch>
        </p:blipFill>
        <p:spPr>
          <a:xfrm>
            <a:off x="678815" y="285115"/>
            <a:ext cx="10835005" cy="4572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00040"/>
            <a:ext cx="10834370" cy="673100"/>
          </a:xfrm>
        </p:spPr>
        <p:txBody>
          <a:bodyPr>
            <a:normAutofit/>
          </a:bodyPr>
          <a:p>
            <a:pPr marL="0" indent="0" algn="l">
              <a:buNone/>
            </a:pPr>
            <a:r>
              <a:rPr lang="en-IN" altLang="en-US" sz="2400"/>
              <a:t>Step12:-</a:t>
            </a:r>
            <a:r>
              <a:rPr lang="en-US" altLang="en-US" sz="2400"/>
              <a:t>The attacker is now logged in; the active user account is Jim.</a:t>
            </a:r>
            <a:endParaRPr lang="en-US" altLang="en-US" sz="2400"/>
          </a:p>
        </p:txBody>
      </p:sp>
      <p:pic>
        <p:nvPicPr>
          <p:cNvPr id="2" name="Picture 1" descr="Screenshot (308)"/>
          <p:cNvPicPr>
            <a:picLocks noChangeAspect="1"/>
          </p:cNvPicPr>
          <p:nvPr/>
        </p:nvPicPr>
        <p:blipFill>
          <a:blip r:embed="rId1"/>
          <a:stretch>
            <a:fillRect/>
          </a:stretch>
        </p:blipFill>
        <p:spPr>
          <a:xfrm>
            <a:off x="678815" y="497205"/>
            <a:ext cx="10834370" cy="443293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00040"/>
            <a:ext cx="10834370" cy="673100"/>
          </a:xfrm>
        </p:spPr>
        <p:txBody>
          <a:bodyPr>
            <a:noAutofit/>
          </a:bodyPr>
          <a:p>
            <a:pPr marL="0" indent="0" algn="l">
              <a:buNone/>
            </a:pPr>
            <a:r>
              <a:rPr lang="en-IN" altLang="en-US" sz="2400"/>
              <a:t>Step13:-</a:t>
            </a:r>
            <a:r>
              <a:rPr lang="en-US" altLang="en-US" sz="2400"/>
              <a:t>As highlighted in the image above, this is the Session ID belonging to the attacker (Jim).</a:t>
            </a:r>
            <a:endParaRPr lang="en-US" altLang="en-US" sz="2400"/>
          </a:p>
        </p:txBody>
      </p:sp>
      <p:pic>
        <p:nvPicPr>
          <p:cNvPr id="4" name="Picture 3" descr="Screenshot (310)"/>
          <p:cNvPicPr>
            <a:picLocks noChangeAspect="1"/>
          </p:cNvPicPr>
          <p:nvPr/>
        </p:nvPicPr>
        <p:blipFill>
          <a:blip r:embed="rId1"/>
          <a:stretch>
            <a:fillRect/>
          </a:stretch>
        </p:blipFill>
        <p:spPr>
          <a:xfrm>
            <a:off x="678180" y="316865"/>
            <a:ext cx="10835005" cy="466788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00040"/>
            <a:ext cx="10834370" cy="673100"/>
          </a:xfrm>
        </p:spPr>
        <p:txBody>
          <a:bodyPr>
            <a:noAutofit/>
          </a:bodyPr>
          <a:p>
            <a:pPr marL="0" indent="0">
              <a:buNone/>
            </a:pPr>
            <a:r>
              <a:rPr lang="en-IN" altLang="en-US" sz="2400"/>
              <a:t>Step14</a:t>
            </a:r>
            <a:r>
              <a:rPr lang="en-IN" altLang="en-US" sz="2400" b="1"/>
              <a:t>:</a:t>
            </a:r>
            <a:r>
              <a:rPr lang="en-IN" altLang="en-US" sz="2400"/>
              <a:t>-</a:t>
            </a:r>
            <a:r>
              <a:rPr lang="en-US" altLang="en-US" sz="2400"/>
              <a:t>For clarity and confirmation, the account name is shown in the upper-right corner of the screen.</a:t>
            </a:r>
            <a:endParaRPr lang="en-US" altLang="en-US" sz="2400"/>
          </a:p>
        </p:txBody>
      </p:sp>
      <p:pic>
        <p:nvPicPr>
          <p:cNvPr id="2" name="Picture 1" descr="Screenshot (311)"/>
          <p:cNvPicPr>
            <a:picLocks noChangeAspect="1"/>
          </p:cNvPicPr>
          <p:nvPr/>
        </p:nvPicPr>
        <p:blipFill>
          <a:blip r:embed="rId1"/>
          <a:stretch>
            <a:fillRect/>
          </a:stretch>
        </p:blipFill>
        <p:spPr>
          <a:xfrm>
            <a:off x="678815" y="422910"/>
            <a:ext cx="10834370" cy="46050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00040"/>
            <a:ext cx="10834370" cy="673100"/>
          </a:xfrm>
        </p:spPr>
        <p:txBody>
          <a:bodyPr/>
          <a:p>
            <a:pPr marL="0" indent="0" algn="l">
              <a:buNone/>
            </a:pPr>
            <a:r>
              <a:rPr lang="en-IN" altLang="en-US" sz="2400"/>
              <a:t>Step15</a:t>
            </a:r>
            <a:r>
              <a:rPr lang="en-IN" altLang="en-US" sz="2400" b="1"/>
              <a:t>:- </a:t>
            </a:r>
            <a:r>
              <a:rPr lang="en-US" altLang="en-US" sz="2400"/>
              <a:t>Now the attacker removes their session ID.</a:t>
            </a:r>
            <a:endParaRPr lang="en-US" altLang="en-US" sz="2400"/>
          </a:p>
        </p:txBody>
      </p:sp>
      <p:pic>
        <p:nvPicPr>
          <p:cNvPr id="2" name="Picture 1" descr="Screenshot (312)"/>
          <p:cNvPicPr>
            <a:picLocks noChangeAspect="1"/>
          </p:cNvPicPr>
          <p:nvPr/>
        </p:nvPicPr>
        <p:blipFill>
          <a:blip r:embed="rId1"/>
          <a:stretch>
            <a:fillRect/>
          </a:stretch>
        </p:blipFill>
        <p:spPr>
          <a:xfrm>
            <a:off x="679450" y="400685"/>
            <a:ext cx="10834370" cy="4689475"/>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00040"/>
            <a:ext cx="10834370" cy="673100"/>
          </a:xfrm>
        </p:spPr>
        <p:txBody>
          <a:bodyPr>
            <a:noAutofit/>
          </a:bodyPr>
          <a:p>
            <a:pPr marL="0" indent="0">
              <a:buNone/>
            </a:pPr>
            <a:r>
              <a:rPr lang="en-IN" altLang="en-US" sz="2400"/>
              <a:t>Step16:- </a:t>
            </a:r>
            <a:r>
              <a:rPr lang="en-US" altLang="en-US" sz="2400"/>
              <a:t>The attacker then replaces the victim’s Session ID (copied earlier) in the attacker’s browser to hijack the victim’s session.</a:t>
            </a:r>
            <a:endParaRPr lang="en-US" altLang="en-US" sz="2400"/>
          </a:p>
        </p:txBody>
      </p:sp>
      <p:pic>
        <p:nvPicPr>
          <p:cNvPr id="4" name="Picture 3" descr="Screenshot (314)"/>
          <p:cNvPicPr>
            <a:picLocks noChangeAspect="1"/>
          </p:cNvPicPr>
          <p:nvPr/>
        </p:nvPicPr>
        <p:blipFill>
          <a:blip r:embed="rId1"/>
          <a:stretch>
            <a:fillRect/>
          </a:stretch>
        </p:blipFill>
        <p:spPr>
          <a:xfrm>
            <a:off x="678815" y="272415"/>
            <a:ext cx="10835005" cy="493204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00040"/>
            <a:ext cx="10834370" cy="673100"/>
          </a:xfrm>
        </p:spPr>
        <p:txBody>
          <a:bodyPr>
            <a:noAutofit/>
          </a:bodyPr>
          <a:p>
            <a:pPr marL="0" indent="0">
              <a:buNone/>
            </a:pPr>
            <a:r>
              <a:rPr lang="en-IN" altLang="en-US" sz="2400"/>
              <a:t>Step17:-</a:t>
            </a:r>
            <a:r>
              <a:rPr lang="en-US" altLang="en-US" sz="2400"/>
              <a:t>Clear </a:t>
            </a:r>
            <a:r>
              <a:rPr lang="en-IN" altLang="en-US" sz="2400"/>
              <a:t>few </a:t>
            </a:r>
            <a:r>
              <a:rPr lang="en-US" altLang="en-US" sz="2400"/>
              <a:t> text in the search bar and refresh the page, as demonstrated in the figure above.</a:t>
            </a:r>
            <a:endParaRPr lang="en-US" altLang="en-US" sz="2400"/>
          </a:p>
        </p:txBody>
      </p:sp>
      <p:pic>
        <p:nvPicPr>
          <p:cNvPr id="2" name="Picture 1" descr="Screenshot (315)"/>
          <p:cNvPicPr>
            <a:picLocks noChangeAspect="1"/>
          </p:cNvPicPr>
          <p:nvPr/>
        </p:nvPicPr>
        <p:blipFill>
          <a:blip r:embed="rId1"/>
          <a:stretch>
            <a:fillRect/>
          </a:stretch>
        </p:blipFill>
        <p:spPr>
          <a:xfrm>
            <a:off x="623570" y="302895"/>
            <a:ext cx="10834370" cy="4614545"/>
          </a:xfrm>
          <a:prstGeom prst="rect">
            <a:avLst/>
          </a:prstGeom>
        </p:spPr>
      </p:pic>
      <p:sp>
        <p:nvSpPr>
          <p:cNvPr id="9" name="Right Arrow 8"/>
          <p:cNvSpPr/>
          <p:nvPr/>
        </p:nvSpPr>
        <p:spPr>
          <a:xfrm rot="18300000">
            <a:off x="1701165" y="1915795"/>
            <a:ext cx="979170" cy="146685"/>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400040"/>
            <a:ext cx="10834370" cy="673100"/>
          </a:xfrm>
        </p:spPr>
        <p:txBody>
          <a:bodyPr>
            <a:noAutofit/>
          </a:bodyPr>
          <a:p>
            <a:pPr marL="0" indent="0">
              <a:buNone/>
            </a:pPr>
            <a:r>
              <a:rPr lang="en-IN" altLang="en-US" sz="2400"/>
              <a:t>Step18:- </a:t>
            </a:r>
            <a:r>
              <a:rPr lang="en-US" altLang="en-US" sz="2400"/>
              <a:t>After refreshing the page, the attacker is logged into the victim’s account without needing the victim’s login credentials</a:t>
            </a:r>
            <a:endParaRPr lang="en-US" altLang="en-US" sz="2400"/>
          </a:p>
        </p:txBody>
      </p:sp>
      <p:pic>
        <p:nvPicPr>
          <p:cNvPr id="2" name="Picture 1" descr="Screenshot (316)"/>
          <p:cNvPicPr>
            <a:picLocks noChangeAspect="1"/>
          </p:cNvPicPr>
          <p:nvPr/>
        </p:nvPicPr>
        <p:blipFill>
          <a:blip r:embed="rId1"/>
          <a:stretch>
            <a:fillRect/>
          </a:stretch>
        </p:blipFill>
        <p:spPr>
          <a:xfrm>
            <a:off x="678815" y="337820"/>
            <a:ext cx="10835005" cy="468884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78815" y="5105400"/>
            <a:ext cx="10834370" cy="673100"/>
          </a:xfrm>
        </p:spPr>
        <p:txBody>
          <a:bodyPr>
            <a:noAutofit/>
          </a:bodyPr>
          <a:p>
            <a:pPr marL="0" indent="0">
              <a:buNone/>
            </a:pPr>
            <a:r>
              <a:rPr lang="en-IN" altLang="en-US" sz="2400"/>
              <a:t>Step19:- </a:t>
            </a:r>
            <a:r>
              <a:rPr lang="en-US" altLang="en-US" sz="2400"/>
              <a:t>The victim’s user ID, previously recorded, is now displayed in the attacker’s browser. This provides confirmation of the session hijack; the account name is visible near the search bar in Burp Suite’s browser</a:t>
            </a:r>
            <a:endParaRPr lang="en-US" altLang="en-US" sz="2400"/>
          </a:p>
        </p:txBody>
      </p:sp>
      <p:pic>
        <p:nvPicPr>
          <p:cNvPr id="4" name="Picture 3" descr="Screenshot (317)"/>
          <p:cNvPicPr>
            <a:picLocks noChangeAspect="1"/>
          </p:cNvPicPr>
          <p:nvPr/>
        </p:nvPicPr>
        <p:blipFill>
          <a:blip r:embed="rId1"/>
          <a:stretch>
            <a:fillRect/>
          </a:stretch>
        </p:blipFill>
        <p:spPr>
          <a:xfrm>
            <a:off x="678180" y="349250"/>
            <a:ext cx="10835005" cy="444563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algn="l">
              <a:lnSpc>
                <a:spcPct val="130000"/>
              </a:lnSpc>
            </a:pPr>
            <a:r>
              <a:rPr lang="en-US" altLang="en-US" sz="4000"/>
              <a:t>For Users:</a:t>
            </a:r>
            <a:br>
              <a:rPr lang="en-US" altLang="en-US"/>
            </a:br>
            <a:endParaRPr lang="en-US" altLang="en-US"/>
          </a:p>
        </p:txBody>
      </p:sp>
      <p:sp>
        <p:nvSpPr>
          <p:cNvPr id="5" name="Content Placeholder 4"/>
          <p:cNvSpPr>
            <a:spLocks noGrp="1"/>
          </p:cNvSpPr>
          <p:nvPr>
            <p:ph idx="1"/>
          </p:nvPr>
        </p:nvSpPr>
        <p:spPr>
          <a:xfrm>
            <a:off x="678882" y="1109290"/>
            <a:ext cx="6687118" cy="4398066"/>
          </a:xfrm>
        </p:spPr>
        <p:txBody>
          <a:bodyPr>
            <a:normAutofit lnSpcReduction="10000"/>
          </a:bodyPr>
          <a:lstStyle/>
          <a:p>
            <a:pPr algn="just"/>
            <a:r>
              <a:rPr lang="en-US" altLang="en-US" sz="1800"/>
              <a:t>Be cautious on public Wi-Fi: Always leave public Wi-Fi for more general activities such as reading e-mails or general browsing but not for any task that involves personal information like online banking.</a:t>
            </a:r>
            <a:endParaRPr lang="en-US" altLang="en-US" sz="1800"/>
          </a:p>
          <a:p>
            <a:pPr algn="just"/>
            <a:r>
              <a:rPr lang="en-US" altLang="en-US" sz="1800"/>
              <a:t>Use strong passwords and Multi-Factor Authentication (MFA): Never use basic or easily guessable account information to secure your online profiles and where available, always activate two-factor authentication. It doubles the protection barrier.</a:t>
            </a:r>
            <a:endParaRPr lang="en-US" altLang="en-US" sz="1800"/>
          </a:p>
          <a:p>
            <a:pPr algn="just"/>
            <a:r>
              <a:rPr lang="en-US" altLang="en-US" sz="1800"/>
              <a:t>email attachments Beware of phishing attacks: Some of these may entice the targeted Internet user to click on links with wrong addresses or open supposed email containing Trojan programs whose purpose is to steal the session ID</a:t>
            </a:r>
            <a:endParaRPr lang="en-US" altLang="en-US" sz="1800"/>
          </a:p>
          <a:p>
            <a:pPr algn="just"/>
            <a:r>
              <a:rPr lang="en-US" altLang="en-US" sz="1800"/>
              <a:t>Log out of accounts: Thus, it is recommended never to forget to sign out of your accounts when you are done with them, particularly in public domains that are frequently accessed by other people.</a:t>
            </a:r>
            <a:endParaRPr lang="en-US" altLang="en-US" sz="1800"/>
          </a:p>
          <a:p>
            <a:pPr algn="just"/>
            <a:r>
              <a:rPr lang="en-US" altLang="en-US" sz="1800"/>
              <a:t>Keep software updated: It is also important to ensure that your operating system, or any other software you use, for instance, web browser, is updated to latest version as this will contain known security issues that could be exploited by attackers.</a:t>
            </a:r>
            <a:endParaRPr lang="en-US" altLang="en-US" sz="1800"/>
          </a:p>
          <a:p>
            <a:pPr marL="0" indent="0">
              <a:buNone/>
            </a:pPr>
            <a:endParaRPr lang="en-US" altLang="en-US" sz="1800"/>
          </a:p>
        </p:txBody>
      </p:sp>
      <p:sp>
        <p:nvSpPr>
          <p:cNvPr id="40" name="Text Box 39"/>
          <p:cNvSpPr txBox="1"/>
          <p:nvPr/>
        </p:nvSpPr>
        <p:spPr>
          <a:xfrm>
            <a:off x="8615680" y="3150235"/>
            <a:ext cx="4064000" cy="583565"/>
          </a:xfrm>
          <a:prstGeom prst="rect">
            <a:avLst/>
          </a:prstGeom>
          <a:noFill/>
        </p:spPr>
        <p:txBody>
          <a:bodyPr wrap="square" rtlCol="0">
            <a:spAutoFit/>
          </a:bodyPr>
          <a:p>
            <a:r>
              <a:rPr lang="en-IN" altLang="en-US" sz="3200" b="1">
                <a:solidFill>
                  <a:schemeClr val="bg1"/>
                </a:solidFill>
              </a:rPr>
              <a:t>Recommendations</a:t>
            </a:r>
            <a:endParaRPr lang="en-IN" altLang="en-US" sz="3200" b="1">
              <a:solidFill>
                <a:schemeClr val="bg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78815" y="666750"/>
            <a:ext cx="6687185" cy="740410"/>
          </a:xfrm>
        </p:spPr>
        <p:txBody>
          <a:bodyPr>
            <a:normAutofit fontScale="90000"/>
          </a:bodyPr>
          <a:p>
            <a:r>
              <a:rPr lang="en-US" altLang="en-US"/>
              <a:t>For Developers and Organizations:</a:t>
            </a:r>
            <a:br>
              <a:rPr lang="en-US" altLang="en-US"/>
            </a:br>
            <a:endParaRPr lang="en-US" altLang="en-US"/>
          </a:p>
        </p:txBody>
      </p:sp>
      <p:sp>
        <p:nvSpPr>
          <p:cNvPr id="5" name="Content Placeholder 4"/>
          <p:cNvSpPr>
            <a:spLocks noGrp="1"/>
          </p:cNvSpPr>
          <p:nvPr>
            <p:ph idx="1"/>
          </p:nvPr>
        </p:nvSpPr>
        <p:spPr>
          <a:xfrm>
            <a:off x="678815" y="1406525"/>
            <a:ext cx="6687185" cy="4651375"/>
          </a:xfrm>
        </p:spPr>
        <p:txBody>
          <a:bodyPr>
            <a:normAutofit lnSpcReduction="20000"/>
          </a:bodyPr>
          <a:p>
            <a:pPr algn="just"/>
            <a:r>
              <a:rPr lang="en-US" altLang="en-US" sz="2000"/>
              <a:t>HTTPS Everywhere: Among different security measures, HTTPS must be put</a:t>
            </a:r>
            <a:r>
              <a:rPr lang="en-IN" altLang="en-US" sz="2000"/>
              <a:t> </a:t>
            </a:r>
            <a:r>
              <a:rPr lang="en-US" altLang="en-US" sz="2000"/>
              <a:t>in practice on all web-pages. While HTTP transmits information in plaintext easily accessible to attackers, HTTPS ensures that information exchanges between the user's browser and web server are encrypted, and hence, makes it difficult for attackers to steal session IDs.</a:t>
            </a:r>
            <a:endParaRPr lang="en-US" altLang="en-US" sz="2000"/>
          </a:p>
          <a:p>
            <a:pPr algn="just"/>
            <a:r>
              <a:rPr lang="en-US" altLang="en-US" sz="2000"/>
              <a:t>Secure cookies: To minimize access of cookies by an attacker, use secure</a:t>
            </a:r>
            <a:r>
              <a:rPr lang="en-IN" altLang="en-US" sz="2000"/>
              <a:t> </a:t>
            </a:r>
            <a:r>
              <a:rPr lang="en-US" altLang="en-US" sz="2000"/>
              <a:t>cookies with HTTP Only attribute that would make the cookies inaccessible to scripts such as Java Script. This also reduces Cross-Site Scripting (XSS) attacks that are likely to have a potential of stealing session IDs.</a:t>
            </a:r>
            <a:endParaRPr lang="en-US" altLang="en-US" sz="2000"/>
          </a:p>
          <a:p>
            <a:pPr algn="just"/>
            <a:r>
              <a:rPr lang="en-US" altLang="en-US" sz="2000"/>
              <a:t>Strong session management: Protected session management of user's</a:t>
            </a:r>
            <a:r>
              <a:rPr lang="en-IN" altLang="en-US" sz="2000"/>
              <a:t> </a:t>
            </a:r>
            <a:r>
              <a:rPr lang="en-US" altLang="en-US" sz="2000"/>
              <a:t>accounts should be put into practice. It involves the factors such us avoiding the use of sequential numbers for session IDs, setting the right idle time-out for sessions, and destroying sessions after log out.</a:t>
            </a:r>
            <a:endParaRPr lang="en-US" altLang="en-US" sz="2000"/>
          </a:p>
          <a:p>
            <a:pPr algn="just"/>
            <a:r>
              <a:rPr lang="en-US" altLang="en-US" sz="2000"/>
              <a:t>Regular security testing: Check and test the web applications for developing security holes that can be used by attackers for session hijacking.</a:t>
            </a:r>
            <a:endParaRPr lang="en-US" altLang="en-US" sz="2000"/>
          </a:p>
          <a:p>
            <a:endParaRPr lang="en-US" altLang="en-US" sz="1800"/>
          </a:p>
          <a:p>
            <a:endParaRPr lang="en-US" altLang="en-US" sz="1800"/>
          </a:p>
          <a:p>
            <a:endParaRPr lang="en-US" altLang="en-US" sz="1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78815" y="2766695"/>
            <a:ext cx="10834370" cy="921385"/>
          </a:xfrm>
        </p:spPr>
        <p:txBody>
          <a:bodyPr>
            <a:normAutofit fontScale="90000"/>
          </a:bodyPr>
          <a:lstStyle/>
          <a:p>
            <a:pPr algn="ctr"/>
            <a:br>
              <a:rPr lang="en-IN" dirty="0"/>
            </a:br>
            <a:r>
              <a:rPr lang="en-IN" dirty="0"/>
              <a:t>Questions ?</a:t>
            </a:r>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12801</Words>
  <Application>WPS Presentation</Application>
  <PresentationFormat>Widescreen</PresentationFormat>
  <Paragraphs>277</Paragraphs>
  <Slides>56</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56</vt:i4>
      </vt:variant>
    </vt:vector>
  </HeadingPairs>
  <TitlesOfParts>
    <vt:vector size="66" baseType="lpstr">
      <vt:lpstr>Arial</vt:lpstr>
      <vt:lpstr>SimSun</vt:lpstr>
      <vt:lpstr>Wingdings</vt:lpstr>
      <vt:lpstr>Calibri</vt:lpstr>
      <vt:lpstr>Nunito</vt:lpstr>
      <vt:lpstr>Segoe Print</vt:lpstr>
      <vt:lpstr>Wingdings</vt:lpstr>
      <vt:lpstr>Microsoft YaHei</vt:lpstr>
      <vt:lpstr>Arial Unicode MS</vt:lpstr>
      <vt:lpstr>BIA Template</vt:lpstr>
      <vt:lpstr>PowerPoint 演示文稿</vt:lpstr>
      <vt:lpstr>Agenda</vt:lpstr>
      <vt:lpstr>What is session and cookies?</vt:lpstr>
      <vt:lpstr>PowerPoint 演示文稿</vt:lpstr>
      <vt:lpstr>PowerPoint 演示文稿</vt:lpstr>
      <vt:lpstr>PowerPoint 演示文稿</vt:lpstr>
      <vt:lpstr>Abstract</vt:lpstr>
      <vt:lpstr>PowerPoint 演示文稿</vt:lpstr>
      <vt:lpstr>Objective</vt:lpstr>
      <vt:lpstr> Methodology &amp; Tools</vt:lpstr>
      <vt:lpstr>PowerPoint 演示文稿</vt:lpstr>
      <vt:lpstr>PowerPoint 演示文稿</vt:lpstr>
      <vt:lpstr>technologies used in this websites</vt:lpstr>
      <vt:lpstr>TOOLS</vt:lpstr>
      <vt:lpstr>Proof of concept (POC)     DVWA</vt:lpstr>
      <vt:lpstr>PowerPoint 演示文稿</vt:lpstr>
      <vt:lpstr> </vt:lpstr>
      <vt:lpstr>PowerPoint 演示文稿</vt:lpstr>
      <vt:lpstr>Step 4:- Set the DVWA security level to low.</vt:lpstr>
      <vt:lpstr>Step 5:- Next right click and select inspect(Q) or press F12.</vt:lpstr>
      <vt:lpstr>Step 6:- Once the dev mode pops up, click the storage menu to access cookies.</vt:lpstr>
      <vt:lpstr>Step 7:- Click on the http://localhost to find your session ID. and copy that value from                 victims browser.</vt:lpstr>
      <vt:lpstr>Step 8:- Now open DVWA website on other browser i.e. of (Attackers).                 Bootup your burp suite and open the  burp suite bowser. </vt:lpstr>
      <vt:lpstr>Step 9:- Now open DVWA website on other browser i.e. of (Attackers).           Bootup your burp suite and open the  burp suite bowser. Now login to DVWA on the             burp suite browser.</vt:lpstr>
      <vt:lpstr>Step 10:- Now you will find the DVWA login page. Before login press Function Key+F12 </vt:lpstr>
      <vt:lpstr>Step 11:- Now acess the dev mode and find the session ID on burp suite browser.</vt:lpstr>
      <vt:lpstr>remove the value given to phpsessid in attackers system.</vt:lpstr>
      <vt:lpstr>PowerPoint 演示文稿</vt:lpstr>
      <vt:lpstr>Step 11:- Replace the PHPSESSID or  session ID of attackers with  victim session ID. </vt:lpstr>
      <vt:lpstr>Step 12:- In attackers browser remove the login.php and only use as shown in the browser Refersh the DVWA login page.</vt:lpstr>
      <vt:lpstr>Step 13:- The DVWA sucessfully logged in. In attackers browser we are loggin with victims                 credentials by replacing the phpsessid value.</vt:lpstr>
      <vt:lpstr>PowerPoint 演示文稿</vt:lpstr>
      <vt:lpstr>PowerPoint 演示文稿</vt:lpstr>
      <vt:lpstr>PowerPoint 演示文稿</vt:lpstr>
      <vt:lpstr>Step 2:- Next right click and select inspect(Q) or press F12. Then Once the dev mode pops up, click the storage menu to access cookies.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For Users: </vt:lpstr>
      <vt:lpstr>For Developers and Organizations: </vt:lpstr>
      <vt:lpstr> Questions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Saranya Saru</cp:lastModifiedBy>
  <cp:revision>2271</cp:revision>
  <dcterms:created xsi:type="dcterms:W3CDTF">2020-12-23T13:36:00Z</dcterms:created>
  <dcterms:modified xsi:type="dcterms:W3CDTF">2025-11-10T15:00:06Z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5ECE24D344584D93934CFC41263061DB_12</vt:lpwstr>
  </property>
  <property fmtid="{D5CDD505-2E9C-101B-9397-08002B2CF9AE}" pid="3" name="KSOProductBuildVer">
    <vt:lpwstr>1033-12.2.0.23131</vt:lpwstr>
  </property>
</Properties>
</file>